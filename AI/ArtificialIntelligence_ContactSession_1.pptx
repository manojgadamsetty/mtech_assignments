
<file path=[Content_Types].xml><?xml version="1.0" encoding="utf-8"?>
<Types xmlns="http://schemas.openxmlformats.org/package/2006/content-types">
  <Default Extension="avi" ContentType="video/avi"/>
  <Default Extension="bin" ContentType="application/vnd.openxmlformats-officedocument.oleObject"/>
  <Default Extension="bmp" ContentType="image/bmp"/>
  <Default Extension="emf" ContentType="image/x-emf"/>
  <Default Extension="fntdata" ContentType="application/x-fontdata"/>
  <Default Extension="gif" ContentType="image/gif"/>
  <Default Extension="jpeg" ContentType="image/jpeg"/>
  <Default Extension="mid" ContentType="audio/unknown"/>
  <Default Extension="midi" ContentType="audio/unknown"/>
  <Default Extension="mp2" ContentType="video/mpeg"/>
  <Default Extension="mp3" ContentType="audio/unknown"/>
  <Default Extension="mp4" ContentType="video/mpeg"/>
  <Default Extension="mpeg" ContentType="video/mpeg"/>
  <Default Extension="mpg" ContentType="video/mpeg"/>
  <Default Extension="pct" ContentType="image/pct"/>
  <Default Extension="pcx" ContentType="image/pcx"/>
  <Default Extension="png" ContentType="image/png"/>
  <Default Extension="rels" ContentType="application/vnd.openxmlformats-package.relationships+xml"/>
  <Default Extension="rmi" ContentType="audio/unknown"/>
  <Default Extension="svg" ContentType="image/svg+xml"/>
  <Default Extension="tga" ContentType="image/tga"/>
  <Default Extension="tif" ContentType="image/tif"/>
  <Default Extension="vml" ContentType="application/vnd.openxmlformats-officedocument.vmlDrawing"/>
  <Default Extension="wav" ContentType="audio/wav"/>
  <Default Extension="wma" ContentType="audio/x-ms-wma"/>
  <Default Extension="wmf" ContentType="image/x-wmf"/>
  <Default Extension="wmv" ContentType="video/wmv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  <p:sldMasterId id="2147483661" r:id="rId6"/>
    <p:sldMasterId id="2147483674" r:id="rId7"/>
  </p:sldMasterIdLst>
  <p:notesMasterIdLst>
    <p:notesMasterId r:id="rId8"/>
  </p:notesMasterIdLst>
  <p:sldIdLst>
    <p:sldId id="256" r:id="rId9"/>
    <p:sldId id="257" r:id="rId10"/>
    <p:sldId id="325" r:id="rId11"/>
    <p:sldId id="326" r:id="rId12"/>
    <p:sldId id="327" r:id="rId13"/>
    <p:sldId id="328" r:id="rId14"/>
    <p:sldId id="329" r:id="rId15"/>
    <p:sldId id="330" r:id="rId16"/>
    <p:sldId id="340" r:id="rId17"/>
    <p:sldId id="357" r:id="rId18"/>
    <p:sldId id="345" r:id="rId19"/>
    <p:sldId id="355" r:id="rId20"/>
    <p:sldId id="359" r:id="rId21"/>
    <p:sldId id="360" r:id="rId22"/>
    <p:sldId id="348" r:id="rId23"/>
    <p:sldId id="262" r:id="rId24"/>
    <p:sldId id="263" r:id="rId25"/>
    <p:sldId id="264" r:id="rId26"/>
    <p:sldId id="265" r:id="rId27"/>
    <p:sldId id="269" r:id="rId28"/>
    <p:sldId id="281" r:id="rId29"/>
    <p:sldId id="279" r:id="rId30"/>
    <p:sldId id="280" r:id="rId31"/>
    <p:sldId id="364" r:id="rId32"/>
    <p:sldId id="270" r:id="rId33"/>
    <p:sldId id="314" r:id="rId34"/>
    <p:sldId id="273" r:id="rId35"/>
    <p:sldId id="274" r:id="rId36"/>
    <p:sldId id="291" r:id="rId37"/>
    <p:sldId id="292" r:id="rId38"/>
    <p:sldId id="332" r:id="rId39"/>
    <p:sldId id="333" r:id="rId40"/>
    <p:sldId id="361" r:id="rId41"/>
    <p:sldId id="334" r:id="rId42"/>
    <p:sldId id="335" r:id="rId43"/>
    <p:sldId id="336" r:id="rId44"/>
    <p:sldId id="313" r:id="rId45"/>
    <p:sldId id="349" r:id="rId46"/>
    <p:sldId id="297" r:id="rId47"/>
    <p:sldId id="298" r:id="rId48"/>
    <p:sldId id="302" r:id="rId49"/>
    <p:sldId id="305" r:id="rId50"/>
    <p:sldId id="306" r:id="rId51"/>
    <p:sldId id="362" r:id="rId52"/>
    <p:sldId id="311" r:id="rId53"/>
    <p:sldId id="308" r:id="rId54"/>
    <p:sldId id="310" r:id="rId55"/>
    <p:sldId id="324" r:id="rId56"/>
    <p:sldId id="277" r:id="rId57"/>
  </p:sldIdLst>
  <p:sldSz cx="9144000" cy="6858000"/>
  <p:notesSz cx="9144000" cy="6858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8738324" val="1062" rev64="64" revOS="1"/>
      <pr:smFileRevision xmlns:pr="smNativeData" xmlns="smNativeData" dt="1768738324" val="101"/>
      <pr:guideOptions xmlns:pr="smNativeData" xmlns="smNativeData" dt="1768738324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67" d="100"/>
          <a:sy n="67" d="100"/>
        </p:scale>
        <p:origin x="968" y="215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 snapToGrid="0">
      <p:cViewPr>
        <p:scale>
          <a:sx n="67" d="100"/>
          <a:sy n="67" d="100"/>
        </p:scale>
        <p:origin x="968" y="215"/>
      </p:cViewPr>
    </p:cSldViewPr>
  </p:notesViewPr>
  <p:gridSpacing cx="73477120" cy="7347712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" Type="http://schemas.openxmlformats.org/officeDocument/2006/relationships/slideMaster" Target="slideMasters/slideMaster3.xml"/><Relationship Id="rId2" Type="http://schemas.openxmlformats.org/officeDocument/2006/relationships/tableStyles" Target="tableStyles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customXml" Target="../customXml/item1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4" Type="http://schemas.openxmlformats.org/officeDocument/2006/relationships/viewProps" Target="viewProps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8" Type="http://schemas.openxmlformats.org/officeDocument/2006/relationships/notesMaster" Target="notesMasters/notesMaster1.xml"/><Relationship Id="rId51" Type="http://schemas.openxmlformats.org/officeDocument/2006/relationships/slide" Target="slides/slide43.xml"/><Relationship Id="rId3" Type="http://schemas.openxmlformats.org/officeDocument/2006/relationships/presProps" Target="presProps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customXml" Target="../customXml/item2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customXml" Target="../customXml/item3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ChangeArrowheads="1"/>
            <a:extLst>
              <a:ext uri="smNativeData">
                <pr:smNativeData xmlns:pr="smNativeData" xmlns="smNativeData" val="SMDATA_15_FM5s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AEAAAAFAAAsLQAAqR0AABAAAAAmAAAACAAAAAEPAAD/HwAA"/>
              </a:ext>
            </a:extLst>
          </p:cNvSpPr>
          <p:nvPr>
            <p:ph type="sldImg" idx="2"/>
          </p:nvPr>
        </p:nvSpPr>
        <p:spPr>
          <a:xfrm>
            <a:off x="215900" y="812800"/>
            <a:ext cx="7127240" cy="4008755"/>
          </a:xfrm>
          <a:custGeom>
            <a:avLst/>
            <a:gdLst/>
            <a:ahLst/>
            <a:cxnLst/>
            <a:rect l="0" t="0" r="7127240" b="4008755"/>
            <a:pathLst>
              <a:path w="7127240" h="4008755" fill="none" extrusionOk="0">
                <a:moveTo>
                  <a:pt x="0" y="0"/>
                </a:moveTo>
                <a:lnTo>
                  <a:pt x="7127240" y="0"/>
                </a:lnTo>
                <a:lnTo>
                  <a:pt x="7127240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4;n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2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4" name="Google Shape;5;n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uFAAASQMAABAAAAAmAAAACAAAAL2/AAD/HwAA"/>
              </a:ext>
            </a:extLst>
          </p:cNvSpPr>
          <p:nvPr>
            <p:ph type="hdr" idx="3"/>
          </p:nvPr>
        </p:nvSpPr>
        <p:spPr>
          <a:xfrm>
            <a:off x="0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5" name="Google Shape;6;n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AAAAACBLgAASQMAABAAAAAmAAAACAAAAL2/AAD/HwAA"/>
              </a:ext>
            </a:extLst>
          </p:cNvSpPr>
          <p:nvPr>
            <p:ph type="dt" idx="10"/>
          </p:nvPr>
        </p:nvSpPr>
        <p:spPr>
          <a:xfrm>
            <a:off x="4279265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6" name="Google Shape;7;n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Hw+AAAuFAAAxUEAABAAAAAmAAAACAAAAL2/AAD/HwAA"/>
              </a:ext>
            </a:extLst>
          </p:cNvSpPr>
          <p:nvPr>
            <p:ph type="ftr" idx="11"/>
          </p:nvPr>
        </p:nvSpPr>
        <p:spPr>
          <a:xfrm>
            <a:off x="0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7" name="Google Shape;8;n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A69AC53-1DB7-3C5A-F9D1-EB0FE29F0FBE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‹#›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p1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97;p1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2;p2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203;p2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8;g5aec7bfc83_0_187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39;g5aec7bfc83_0_187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YvAS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40;g5aec7bfc83_0_187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8EECC8E-C0B5-BB3A-FB56-366F82180D63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4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5;g5aec7bfc83_0_193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46;g5aec7bfc83_0_193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b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47;g5aec7bfc83_0_193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b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0F1339D-D3FD-A4C5-B349-25907D074570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5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5;g5aec7bfc83_0_193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G6Fr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46;g5aec7bfc83_0_193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47;g5aec7bfc83_0_193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1EI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39591793-DDD4-0CE1-9AE1-2BB459AF6C7E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6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5;g5aec7bfc83_0_193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A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46;g5aec7bfc83_0_193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47;g5aec7bfc83_0_193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1EE79A7-E9FC-BB8F-B256-1FDA3718444A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7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5;g5aec7bfc83_0_193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oh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46;g5aec7bfc83_0_193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EwAU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47;g5aec7bfc83_0_193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AyXi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32DB4C9-87FE-7842-B095-7117FADB4624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8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6;g5aec7bfc83_0_22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17;g5aec7bfc83_0_22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b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18;g5aec7bfc83_0_22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b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7018BAE-E0FA-547D-B4B9-1628C5F74243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14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4;g5aec7bfc83_0_36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h/TC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45;g5aec7bfc83_0_36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Cu4y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46;g5aec7bfc83_0_36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Bi3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0EBE7FD-B3FD-BE11-B353-4544A91D4510}" type="slidenum">
              <a:rPr lang="en-in" cap="none"/>
              <a:t>16</a:t>
            </a:fld>
            <a:endParaRPr lang="en-in" cap="none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3;g5aec7bfc83_0_77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54;g5aec7bfc83_0_77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55;g5aec7bfc83_0_77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MOKy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9482844-0AA4-1DDE-EAF0-FC8B66BE1CA9}" type="slidenum">
              <a:rPr lang="en-in" cap="none"/>
              <a:t>17</a:t>
            </a:fld>
            <a:endParaRPr lang="en-in" cap="none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0;g5aec7bfc83_0_48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61;g5aec7bfc83_0_48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sYKx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62;g5aec7bfc83_0_48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e/7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3183DF7-B9CE-4DCB-80A0-4F9E73EE761A}" type="slidenum">
              <a:rPr lang="en-in" cap="none"/>
              <a:t>18</a:t>
            </a:fld>
            <a:endParaRPr lang="en-in" cap="none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7;g5aec7bfc83_0_129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68;g5aec7bfc83_0_129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U9I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69;g5aec7bfc83_0_129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B1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A026B-25E8-AFF4-A642-D3A14C0C5086}" type="slidenum">
              <a:rPr lang="en-in" cap="none"/>
              <a:t>19</a:t>
            </a:fld>
            <a:endParaRPr lang="en-in" cap="none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rGy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96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BAY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97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0126EDE-90BD-4798-F3AA-66CD20E40533}" type="slidenum">
              <a:rPr lang="en-in" cap="none"/>
              <a:t>20</a:t>
            </a:fld>
            <a:endParaRPr lang="en-in" cap="none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96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97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434CF3C-72E9-6139-A78C-846C81C251D1}" type="slidenum">
              <a:rPr lang="en-in" cap="none"/>
              <a:t>21</a:t>
            </a:fld>
            <a:endParaRPr lang="en-in" cap="none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96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M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97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QeBB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2B67065-2BBF-E386-F10E-DDD33E400788}" type="slidenum">
              <a:rPr lang="en-in" cap="none"/>
              <a:t>22</a:t>
            </a:fld>
            <a:endParaRPr lang="en-in" cap="none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A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96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/Aq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97;g5aec7bfc83_0_15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eyi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3AC78117-59D7-9277-997F-AF22CF316FFA}" type="slidenum">
              <a:rPr lang="en-in" cap="none"/>
              <a:t>23</a:t>
            </a:fld>
            <a:endParaRPr lang="en-in" cap="none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2;g5aec7bfc83_0_174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sR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03;g5aec7bfc83_0_174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CYi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304;g5aec7bfc83_0_174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Equ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8876EA2-ECE5-D298-AB3F-1ACD20715D4F}" type="slidenum">
              <a:rPr lang="en-in" cap="none"/>
              <a:t>25</a:t>
            </a:fld>
            <a:endParaRPr lang="en-in" cap="none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6;g5aec7bfc83_0_22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M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17;g5aec7bfc83_0_22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18;g5aec7bfc83_0_22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32EE079-378E-7B16-C096-C143AED83694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26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3;g5aec7bfc83_0_212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24;g5aec7bfc83_0_212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325;g5aec7bfc83_0_212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2902A63-2DCF-C5DC-8128-DB896466778E}" type="slidenum">
              <a:rPr lang="en-in" cap="none"/>
              <a:t>27</a:t>
            </a:fld>
            <a:endParaRPr lang="en-in" cap="none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1;g5aec7bfc83_0_201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32;g5aec7bfc83_0_201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333;g5aec7bfc83_0_201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C28C07E-30F1-7D36-BF90-C6638EDE4993}" type="slidenum">
              <a:rPr lang="en-in" cap="none"/>
              <a:t>28</a:t>
            </a:fld>
            <a:endParaRPr lang="en-in" cap="none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2;g5af2e8c0f2_0_8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/n89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53;g5af2e8c0f2_0_8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IE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1;g5af2e8c0f2_0_17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62;g5af2e8c0f2_0_17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b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g5af2e8c0f2_0_72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EAR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98;g5af2e8c0f2_0_72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5;g5af2e8c0f2_0_107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226;g5af2e8c0f2_0_107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4;g5af2e8c0f2_0_120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235;g5af2e8c0f2_0_120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8/7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FM5s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BzbX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FEAEEEC-A2A2-BF18-EC52-544DA01C1A01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44</a:t>
            </a:fld>
            <a:endParaRPr lang="en-in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1;g5af2e8c0f2_0_189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NZIL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282;g5af2e8c0f2_0_189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ZIq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4;g5af2e8c0f2_0_136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255;g5af2e8c0f2_0_136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2;g5af2e8c0f2_0_180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eyi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273;g5af2e8c0f2_0_180:notes"/>
          <p:cNvSpPr>
            <a:spLocks noGrp="1" noChangeArrowheads="1"/>
            <a:extLst>
              <a:ext uri="smNativeData">
                <pr:smNativeData xmlns:pr="smNativeData" xmlns="smNativeData" val="SMDATA_15_FM5s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OBAK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9;p5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Cili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210;p5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AAF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211;p5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EAR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28BBAE3-ADCF-DE4C-8133-5B19F47D770E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48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3;p10:notes"/>
          <p:cNvSpPr>
            <a:spLocks noGrp="1" noChangeArrowheads="1"/>
            <a:extLst>
              <a:ext uri="smNativeData">
                <pr:smNativeData xmlns:pr="smNativeData" xmlns="smNativeData" val="SMDATA_15_FM5s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54;p10:notes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55;p10:notes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3B7A0B0-FEBE-E256-F00F-0803EE41065D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49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2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J475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2;p2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O+F/I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2wAAD/HwAA"/>
              </a:ext>
            </a:extLst>
          </p:cNvSpPr>
          <p:nvPr>
            <p:ph type="subTitle"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2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5;p2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;p2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8;p2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29;p2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EDc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;p2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24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C3S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7xkAABAAAAAmAAAACAAAAL2wAAD/HwAA"/>
              </a:ext>
            </a:extLst>
          </p:cNvSpPr>
          <p:nvPr>
            <p:ph type="subTitle" idx="1"/>
          </p:nvPr>
        </p:nvSpPr>
        <p:spPr>
          <a:xfrm>
            <a:off x="395605" y="274955"/>
            <a:ext cx="6120130" cy="394081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AndObj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;p25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36;p25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9/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37;p25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38;p25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AndTwoObj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2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41;p2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42;p2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A6Ly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43;p2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NwYz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D2wAAD/HwAA"/>
              </a:ext>
            </a:extLst>
          </p:cNvSpPr>
          <p:nvPr>
            <p:ph idx="3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OverTx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2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46;p2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47;p2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48;p2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verTx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;p2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1;p2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52;p2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A6Ly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D2wAAD/HwAA"/>
              </a:ext>
            </a:extLst>
          </p:cNvSpPr>
          <p:nvPr>
            <p:ph idx="2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2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5;p2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56;p2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57;p2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A6Ly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58;p2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D2wAAD/HwAA"/>
              </a:ext>
            </a:extLst>
          </p:cNvSpPr>
          <p:nvPr>
            <p:ph idx="4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3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61;p3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A6Ly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AdE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62;p3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48L2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NgJAAA6JAAAHxcAABAAAAAmAAAACAAAAD2wAAD/HwAA"/>
              </a:ext>
            </a:extLst>
          </p:cNvSpPr>
          <p:nvPr>
            <p:ph idx="2"/>
          </p:nvPr>
        </p:nvSpPr>
        <p:spPr>
          <a:xfrm>
            <a:off x="323977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63;p3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N0Lz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NgJAABYNQAAHxcAABAAAAAmAAAACAAAAD2wAAD/HwAA"/>
              </a:ext>
            </a:extLst>
          </p:cNvSpPr>
          <p:nvPr>
            <p:ph idx="3"/>
          </p:nvPr>
        </p:nvSpPr>
        <p:spPr>
          <a:xfrm>
            <a:off x="602234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64;p3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AdEwAAqiUAABAAAAAmAAAACAAAAD2wAAD/HwAA"/>
              </a:ext>
            </a:extLst>
          </p:cNvSpPr>
          <p:nvPr>
            <p:ph idx="4"/>
          </p:nvPr>
        </p:nvSpPr>
        <p:spPr>
          <a:xfrm>
            <a:off x="457200" y="3964305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7" name="Google Shape;65;p3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c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GMYAAA6JAAAqiUAABAAAAAmAAAACAAAAD2wAAD/HwAA"/>
              </a:ext>
            </a:extLst>
          </p:cNvSpPr>
          <p:nvPr>
            <p:ph idx="5"/>
          </p:nvPr>
        </p:nvSpPr>
        <p:spPr>
          <a:xfrm>
            <a:off x="323977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8" name="Google Shape;66;p3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c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GMYAABYNQAAqiUAABAAAAAmAAAACAAAAD2wAAD/HwAA"/>
              </a:ext>
            </a:extLst>
          </p:cNvSpPr>
          <p:nvPr>
            <p:ph idx="6"/>
          </p:nvPr>
        </p:nvSpPr>
        <p:spPr>
          <a:xfrm>
            <a:off x="602234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3;p3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84;p3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ywAAD/HwAA"/>
              </a:ext>
            </a:extLst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;p3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87;p3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DywAAD/HwAA"/>
              </a:ext>
            </a:extLst>
          </p:cNvSpPr>
          <p:nvPr>
            <p:ph idx="1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9;p3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90;p3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91;p3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3;p34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5;p35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7xkAABAAAAAmAAAACAAAAL2wAAD/HwAA"/>
              </a:ext>
            </a:extLst>
          </p:cNvSpPr>
          <p:nvPr>
            <p:ph type="subTitle" idx="1"/>
          </p:nvPr>
        </p:nvSpPr>
        <p:spPr>
          <a:xfrm>
            <a:off x="395605" y="274955"/>
            <a:ext cx="6120130" cy="394081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AndObj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p3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98;p3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99;p3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00;p3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AndTwoObj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2;p3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03;p3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04;p3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05;p3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D2wAAD/HwAA"/>
              </a:ext>
            </a:extLst>
          </p:cNvSpPr>
          <p:nvPr>
            <p:ph idx="3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OverTx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3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08;p3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09;p3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10;p3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verTx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2;p3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13;p3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14;p3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D2wAAD/HwAA"/>
              </a:ext>
            </a:extLst>
          </p:cNvSpPr>
          <p:nvPr>
            <p:ph idx="2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;p4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17;p4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18;p4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19;p4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120;p4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D2wAAD/HwAA"/>
              </a:ext>
            </a:extLst>
          </p:cNvSpPr>
          <p:nvPr>
            <p:ph idx="4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;p4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23;p4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AdE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24;p4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NgJAAA6JAAAHxcAABAAAAAmAAAACAAAAD2wAAD/HwAA"/>
              </a:ext>
            </a:extLst>
          </p:cNvSpPr>
          <p:nvPr>
            <p:ph idx="2"/>
          </p:nvPr>
        </p:nvSpPr>
        <p:spPr>
          <a:xfrm>
            <a:off x="323977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25;p4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NgJAABYNQAAHxcAABAAAAAmAAAACAAAAD2wAAD/HwAA"/>
              </a:ext>
            </a:extLst>
          </p:cNvSpPr>
          <p:nvPr>
            <p:ph idx="3"/>
          </p:nvPr>
        </p:nvSpPr>
        <p:spPr>
          <a:xfrm>
            <a:off x="602234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126;p4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AdEwAAqiUAABAAAAAmAAAACAAAAD2wAAD/HwAA"/>
              </a:ext>
            </a:extLst>
          </p:cNvSpPr>
          <p:nvPr>
            <p:ph idx="4"/>
          </p:nvPr>
        </p:nvSpPr>
        <p:spPr>
          <a:xfrm>
            <a:off x="457200" y="3964305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7" name="Google Shape;127;p4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GMYAAA6JAAAqiUAABAAAAAmAAAACAAAAD2wAAD/HwAA"/>
              </a:ext>
            </a:extLst>
          </p:cNvSpPr>
          <p:nvPr>
            <p:ph idx="5"/>
          </p:nvPr>
        </p:nvSpPr>
        <p:spPr>
          <a:xfrm>
            <a:off x="323977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8" name="Google Shape;128;p4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GMYAABYNQAAqiUAABAAAAAmAAAACAAAAD2wAAD/HwAA"/>
              </a:ext>
            </a:extLst>
          </p:cNvSpPr>
          <p:nvPr>
            <p:ph idx="6"/>
          </p:nvPr>
        </p:nvSpPr>
        <p:spPr>
          <a:xfrm>
            <a:off x="602234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p5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50;p5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D2wAAD/HwAA"/>
              </a:ext>
            </a:extLst>
          </p:cNvSpPr>
          <p:nvPr>
            <p:ph type="subTitle"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2;p54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53;p54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5;p55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56;p55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57;p55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;p56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1;p57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7xkAABAAAAAmAAAACAAAAD2wAAD/HwAA"/>
              </a:ext>
            </a:extLst>
          </p:cNvSpPr>
          <p:nvPr>
            <p:ph type="subTitle" idx="1"/>
          </p:nvPr>
        </p:nvSpPr>
        <p:spPr>
          <a:xfrm>
            <a:off x="395605" y="274955"/>
            <a:ext cx="6120130" cy="394081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AndObj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5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64;p5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65;p5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66;p5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L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AndTwoObj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8;p5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69;p5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70;p5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71;p59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L2wAAD/HwAA"/>
              </a:ext>
            </a:extLst>
          </p:cNvSpPr>
          <p:nvPr>
            <p:ph idx="3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OverTx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3;p6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74;p6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75;p6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76;p60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L2wAAD/HwAA"/>
              </a:ext>
            </a:extLst>
          </p:cNvSpPr>
          <p:nvPr>
            <p:ph idx="3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verTx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8;p6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79;p6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80;p6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L2wAAD/HwAA"/>
              </a:ext>
            </a:extLst>
          </p:cNvSpPr>
          <p:nvPr>
            <p:ph idx="2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2;p6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83;p6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84;p6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85;p6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L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186;p6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L2wAAD/HwAA"/>
              </a:ext>
            </a:extLst>
          </p:cNvSpPr>
          <p:nvPr>
            <p:ph idx="4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8;p6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89;p6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AdEw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90;p6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NgJAAA6JAAAHxcAABAAAAAmAAAACAAAAL2wAAD/HwAA"/>
              </a:ext>
            </a:extLst>
          </p:cNvSpPr>
          <p:nvPr>
            <p:ph idx="2"/>
          </p:nvPr>
        </p:nvSpPr>
        <p:spPr>
          <a:xfrm>
            <a:off x="323977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91;p6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NgJAABYNQAAHxcAABAAAAAmAAAACAAAAL2wAAD/HwAA"/>
              </a:ext>
            </a:extLst>
          </p:cNvSpPr>
          <p:nvPr>
            <p:ph idx="3"/>
          </p:nvPr>
        </p:nvSpPr>
        <p:spPr>
          <a:xfrm>
            <a:off x="602234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192;p6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AdEwAAqiUAABAAAAAmAAAACAAAAL2wAAD/HwAA"/>
              </a:ext>
            </a:extLst>
          </p:cNvSpPr>
          <p:nvPr>
            <p:ph idx="4"/>
          </p:nvPr>
        </p:nvSpPr>
        <p:spPr>
          <a:xfrm>
            <a:off x="457200" y="3964305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7" name="Google Shape;193;p6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GMYAAA6JAAAqiUAABAAAAAmAAAACAAAAL2wAAD/HwAA"/>
              </a:ext>
            </a:extLst>
          </p:cNvSpPr>
          <p:nvPr>
            <p:ph idx="5"/>
          </p:nvPr>
        </p:nvSpPr>
        <p:spPr>
          <a:xfrm>
            <a:off x="323977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8" name="Google Shape;194;p63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GMYAABYNQAAqiUAABAAAAAmAAAACAAAAL2wAAD/HwAA"/>
              </a:ext>
            </a:extLst>
          </p:cNvSpPr>
          <p:nvPr>
            <p:ph idx="6"/>
          </p:nvPr>
        </p:nvSpPr>
        <p:spPr>
          <a:xfrm>
            <a:off x="602234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1.xml"/></Relationships>
</file>

<file path=ppt/slideMasters/_rels/slideMaster2.xml.rels><?xml version="1.0" encoding="UTF-8" standalone="yes" 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_rels/slideMaster3.xml.rels><?xml version="1.0" encoding="UTF-8" standalone="yes" 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theme" Target="../theme/theme4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12"/>
          <p:cNvSpPr>
            <a:extLst>
              <a:ext uri="smNativeData">
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EBFB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BFBAP///wEAAAAAAAAAAAAAAAAAAAAAAAAAAAAAAAAAAAAAAAAAAAAAAAJ/f38AH0l9A8zMzADAwP8Af39/AAAAAAAAAAAAAAAAAAAAAAAAAAAAIQAAABgAAAAUAAAAAAAAAKAUAABvNQAAfyUAABAAAAAmAAAACAAAAP//////////"/>
              </a:ext>
            </a:extLst>
          </p:cNvSpPr>
          <p:nvPr/>
        </p:nvSpPr>
        <p:spPr>
          <a:xfrm>
            <a:off x="0" y="3352800"/>
            <a:ext cx="8686165" cy="2742565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1;p12"/>
          <p:cNvSpPr>
            <a:extLst>
              <a:ext uri="smNativeData">
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0BEAAIAlAACfIwAA9yUAABAAAAAmAAAACAAAAP//////////"/>
              </a:ext>
            </a:extLst>
          </p:cNvSpPr>
          <p:nvPr/>
        </p:nvSpPr>
        <p:spPr>
          <a:xfrm>
            <a:off x="2895600" y="6096000"/>
            <a:ext cx="2894965" cy="75565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12;p12"/>
          <p:cNvSpPr>
            <a:extLst>
              <a:ext uri="smNativeData">
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AAAAAIAlAADPEQAA9yUAABAAAAAmAAAACAAAAP//////////"/>
              </a:ext>
            </a:extLst>
          </p:cNvSpPr>
          <p:nvPr/>
        </p:nvSpPr>
        <p:spPr>
          <a:xfrm>
            <a:off x="0" y="6096000"/>
            <a:ext cx="2894965" cy="75565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13;p12"/>
          <p:cNvSpPr>
            <a:extLst>
              <a:ext uri="smNativeData">
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oCMAAIAlAABvNQAA9yUAABAAAAAmAAAACAAAAP//////////"/>
              </a:ext>
            </a:extLst>
          </p:cNvSpPr>
          <p:nvPr/>
        </p:nvSpPr>
        <p:spPr>
          <a:xfrm>
            <a:off x="5791200" y="6096000"/>
            <a:ext cx="2894965" cy="755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14;p12"/>
          <p:cNvSpPr>
            <a:spLocks noGrp="1" noChangeArrowheads="1"/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AF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A8AAEghAACANAAAjyQAABAAAAAmAAAACAAAAL2/AAD/HwAA"/>
              </a:ext>
            </a:extLst>
          </p:cNvSpPr>
          <p:nvPr>
            <p:ph type="body" idx="1"/>
          </p:nvPr>
        </p:nvSpPr>
        <p:spPr>
          <a:xfrm>
            <a:off x="2514600" y="5410200"/>
            <a:ext cx="6019800" cy="5327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7" name="Google Shape;15;p12"/>
          <p:cNvSpPr>
            <a:spLocks noGrp="1" noChangeArrowheads="1"/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AF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A8AAHAXAACANAAAzyAAABAAAAAmAAAACAAAAL2/AAD/HwAA"/>
              </a:ext>
            </a:extLst>
          </p:cNvSpPr>
          <p:nvPr>
            <p:ph type="title"/>
          </p:nvPr>
        </p:nvSpPr>
        <p:spPr>
          <a:xfrm>
            <a:off x="2514600" y="3810000"/>
            <a:ext cx="6019800" cy="15233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pic>
        <p:nvPicPr>
          <p:cNvPr id="8" name="Google Shape;16;p12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Kws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HgAAACgFAAAIA0AAM0gAAAQAAAAJgAAAAgAAAD//////////w=="/>
              </a:ext>
            </a:extLst>
          </p:cNvPicPr>
          <p:nvPr/>
        </p:nvPicPr>
        <p:blipFill>
          <a:blip r:embed="rId2"/>
          <a:srcRect l="0" t="0" r="0" b="28590"/>
          <a:stretch>
            <a:fillRect/>
          </a:stretch>
        </p:blipFill>
        <p:spPr>
          <a:xfrm>
            <a:off x="76200" y="3352800"/>
            <a:ext cx="2057400" cy="1979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Google Shape;17;p12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oA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iP///1ggAAAfDQAAwCMAABAAAAAmAAAACAAAAP//////////"/>
              </a:ext>
            </a:extLst>
          </p:cNvSpPr>
          <p:nvPr/>
        </p:nvSpPr>
        <p:spPr>
          <a:xfrm>
            <a:off x="-76200" y="5257800"/>
            <a:ext cx="2209165" cy="553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0" b="1" cap="none">
                <a:solidFill>
                  <a:srgbClr val="FFFFFF"/>
                </a:solidFill>
              </a:rPr>
              <a:t>BITS</a:t>
            </a:r>
            <a:r>
              <a:rPr lang="en-in" sz="2900" cap="none">
                <a:solidFill>
                  <a:srgbClr val="FFFFFF"/>
                </a:solidFill>
              </a:rPr>
              <a:t> Pilani</a:t>
            </a:r>
            <a:endParaRPr sz="2900" cap="none"/>
          </a:p>
        </p:txBody>
      </p:sp>
      <p:sp>
        <p:nvSpPr>
          <p:cNvPr id="10" name="Google Shape;18;p12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Su8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8AAAANwiAACnDAAAjyQAABAAAAAmAAAACAAAAP//////////"/>
              </a:ext>
            </a:extLst>
          </p:cNvSpPr>
          <p:nvPr/>
        </p:nvSpPr>
        <p:spPr>
          <a:xfrm>
            <a:off x="152400" y="5666740"/>
            <a:ext cx="19043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cap="none">
                <a:solidFill>
                  <a:srgbClr val="FFFFFF"/>
                </a:solidFill>
              </a:rPr>
              <a:t>Pilani Campus</a:t>
            </a:r>
            <a:endParaRPr sz="1200"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Masters/slideMaster2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8;p14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T/4q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KBQAAJQoAAA/OAAALyoAABAAAAAmAAAACAAAAP//////////"/>
              </a:ext>
            </a:extLst>
          </p:cNvSpPr>
          <p:nvPr/>
        </p:nvSpPr>
        <p:spPr>
          <a:xfrm>
            <a:off x="3276600" y="6596380"/>
            <a:ext cx="5866765" cy="2609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cap="none">
                <a:solidFill>
                  <a:srgbClr val="101141"/>
                </a:solidFill>
              </a:rPr>
              <a:t>BITS </a:t>
            </a:r>
            <a:r>
              <a:rPr lang="en-in" sz="1100" cap="none">
                <a:solidFill>
                  <a:srgbClr val="101141"/>
                </a:solidFill>
              </a:rPr>
              <a:t>Pilani, Pilani Campus</a:t>
            </a:r>
            <a:endParaRPr sz="1100" cap="none"/>
          </a:p>
        </p:txBody>
      </p:sp>
      <p:pic>
        <p:nvPicPr>
          <p:cNvPr id="3" name="Google Shape;69;p14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vwAAAAAAAAAAAAAAEwIAAAAAAABkAAAAZAAAAAAAAAAjAAAABAAAAGQAAAAXAAAAFAAAAAAAAAAAAAAA/38AAP9/AAAAAAAACQAAAAQAAAANAA0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MgoAAAAAAAARTYAAEIEAAAQAAAAJgAAAAgAAAD//////////w=="/>
              </a:ext>
            </a:extLst>
          </p:cNvPicPr>
          <p:nvPr/>
        </p:nvPicPr>
        <p:blipFill>
          <a:blip r:embed="rId1"/>
          <a:srcRect l="1910" t="0" r="0" b="5310"/>
          <a:stretch>
            <a:fillRect/>
          </a:stretch>
        </p:blipFill>
        <p:spPr>
          <a:xfrm>
            <a:off x="6629400" y="0"/>
            <a:ext cx="2192655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4" name="Google Shape;70;p14"/>
          <p:cNvGrpSpPr>
            <a:extLst>
              <a:ext uri="smNativeData">
                <pr:smNativeData xmlns:pr="smNativeData" xmlns="smNativeData" val="SMDATA_6_FM5saRMAAAAlAAAAAQAAAA8BAAAAkAAAAEgAAACQAAAASAAAAAAAAAAAAAAAAAAAABcAAAAUAAAAAAAAAAAAAAD/fwAA/38AAAAAAAAJAAAABAAAABACMwEfAAAAVAAAAAAAAAAAAAAAAAAAAAAAAAAAAAAAAAAAAAAAAAAAAAAAAAAAAAAAAAAAAAAAAAAAAAAAAAAAAAAAAAAAAAAAAAAAAAAAAAAAAAAAAAAAAAAAAAAAACEAAAAYAAAAFAAAACANAABQKAAAPzgAAJcoAAAQAAAAJgAAAAgAAAD/////AAAAAA=="/>
              </a:ext>
            </a:extLst>
          </p:cNvGrpSpPr>
          <p:nvPr/>
        </p:nvGrpSpPr>
        <p:grpSpPr>
          <a:xfrm>
            <a:off x="2133600" y="6553200"/>
            <a:ext cx="7009765" cy="45085"/>
            <a:chOff x="2133600" y="6553200"/>
            <a:chExt cx="7009765" cy="45085"/>
          </a:xfrm>
        </p:grpSpPr>
        <p:sp>
          <p:nvSpPr>
            <p:cNvPr id="7" name="Google Shape;71;p14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AGB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qBsAAFAoAAD6KQAAlygAAAAAAAAmAAAACAAAAP//////////"/>
                </a:ext>
              </a:extLst>
            </p:cNvSpPr>
            <p:nvPr/>
          </p:nvSpPr>
          <p:spPr>
            <a:xfrm>
              <a:off x="4495800" y="6553200"/>
              <a:ext cx="2327910" cy="4508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72;p14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AGB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IA0AAFAoAACoGwAAlygAAAAAAAAmAAAACAAAAP//////////"/>
                </a:ext>
              </a:extLst>
            </p:cNvSpPr>
            <p:nvPr/>
          </p:nvSpPr>
          <p:spPr>
            <a:xfrm>
              <a:off x="2133600" y="6553200"/>
              <a:ext cx="2362200" cy="4508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73;p14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7SkAAFAoAAA/OAAAlygAAAAAAAAmAAAACAAAAP//////////"/>
                </a:ext>
              </a:extLst>
            </p:cNvSpPr>
            <p:nvPr/>
          </p:nvSpPr>
          <p:spPr>
            <a:xfrm>
              <a:off x="6815455" y="6553200"/>
              <a:ext cx="2327910" cy="450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" name="Google Shape;74;p14"/>
          <p:cNvGrpSpPr>
            <a:extLst>
              <a:ext uri="smNativeData">
                <pr:smNativeData xmlns:pr="smNativeData" xmlns="smNativeData" val="SMDATA_6_FM5saRMAAAAlAAAAAQAAAA8BAAAAkAAAAEgAAACQAAAASAAAAAAAAAAAAAAAAAAAABcAAAAUAAAAAAAAAAAAAAD/fwAA/38AAAAAAAAJAAAABAAAABACMwEfAAAAVAAAAAAAAAAAAAAAAAAAAAAAAAAAAAAAAAAAAAAAAAAAAAAAAAAAAAAAAAAAAAAAAAAAAAAAAAAAAAAAAAAAAAAAAAAAAAAAAAAAAAAAAAAAAAAAAAAAACEAAAAYAAAAFAAAAAAAAAD4BwAAHysAAD8IAAAQAAAAJgAAAAgAAAD/////AAAAAA=="/>
              </a:ext>
            </a:extLst>
          </p:cNvGrpSpPr>
          <p:nvPr/>
        </p:nvGrpSpPr>
        <p:grpSpPr>
          <a:xfrm>
            <a:off x="0" y="1295400"/>
            <a:ext cx="7009765" cy="45085"/>
            <a:chOff x="0" y="1295400"/>
            <a:chExt cx="7009765" cy="45085"/>
          </a:xfrm>
        </p:grpSpPr>
        <p:sp>
          <p:nvSpPr>
            <p:cNvPr id="11" name="Google Shape;75;p14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vLWm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iA4AAPgHAADaHAAAPwgAAAAAAAAmAAAACAAAAP//////////"/>
                </a:ext>
              </a:extLst>
            </p:cNvSpPr>
            <p:nvPr/>
          </p:nvSpPr>
          <p:spPr>
            <a:xfrm>
              <a:off x="2362200" y="1295400"/>
              <a:ext cx="2327910" cy="4508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76;p14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x+cL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AAAAAPgHAACIDgAAPwgAAAAAAAAmAAAACAAAAP//////////"/>
                </a:ext>
              </a:extLst>
            </p:cNvSpPr>
            <p:nvPr/>
          </p:nvSpPr>
          <p:spPr>
            <a:xfrm>
              <a:off x="0" y="1295400"/>
              <a:ext cx="2362200" cy="4508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77;p14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GCe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zRwAAPgHAAAfKwAAPwgAAAAAAAAmAAAACAAAAP//////////"/>
                </a:ext>
              </a:extLst>
            </p:cNvSpPr>
            <p:nvPr/>
          </p:nvSpPr>
          <p:spPr>
            <a:xfrm>
              <a:off x="4681855" y="1295400"/>
              <a:ext cx="2327910" cy="450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" name="Google Shape;78;p14"/>
          <p:cNvSpPr>
            <a:spLocks noGrp="1" noChangeArrowheads="1"/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epQE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L2/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13" name="Google Shape;79;p14"/>
          <p:cNvSpPr>
            <a:spLocks noGrp="1" noChangeArrowheads="1"/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tixZ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2/AAD/Hw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8965" cy="45256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14" name="Google Shape;80;p14"/>
          <p:cNvSpPr>
            <a:spLocks noGrp="1" noChangeArrowheads="1"/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I4jL0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TQAAF8mAAA/OAAALCgAABAAAAAmAAAACAAAAL2/AAD/HwAA"/>
              </a:ext>
            </a:extLst>
          </p:cNvSpPr>
          <p:nvPr>
            <p:ph type="sldNum" idx="12"/>
          </p:nvPr>
        </p:nvSpPr>
        <p:spPr>
          <a:xfrm>
            <a:off x="8532495" y="6237605"/>
            <a:ext cx="610870" cy="2927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fld id="{4E81B3DA-94A3-D445-ED39-6210FD771B37}" type="slidenum">
              <a:rPr lang="en-in" cap="none"/>
              <a:t/>
            </a:fld>
            <a:endParaRPr b="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Masters/slideMaster3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18"/>
          <p:cNvSpPr>
            <a:spLocks noGrp="1" noChangeArrowheads="1"/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DEJAACANAAACCUAABAAAAAmAAAACAAAAL2/AAD/HwAA"/>
              </a:ext>
            </a:extLst>
          </p:cNvSpPr>
          <p:nvPr>
            <p:ph type="body" idx="1"/>
          </p:nvPr>
        </p:nvSpPr>
        <p:spPr>
          <a:xfrm>
            <a:off x="304800" y="1494155"/>
            <a:ext cx="8229600" cy="45256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3" name="Google Shape;131;p18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KBQAAJQoAAA/OAAALyoAABAAAAAmAAAACAAAAP//////////"/>
              </a:ext>
            </a:extLst>
          </p:cNvSpPr>
          <p:nvPr/>
        </p:nvSpPr>
        <p:spPr>
          <a:xfrm>
            <a:off x="3276600" y="6596380"/>
            <a:ext cx="5866765" cy="2609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cap="none">
                <a:solidFill>
                  <a:srgbClr val="101141"/>
                </a:solidFill>
              </a:rPr>
              <a:t>BITS </a:t>
            </a:r>
            <a:r>
              <a:rPr lang="en-in" sz="1100" cap="none">
                <a:solidFill>
                  <a:srgbClr val="101141"/>
                </a:solidFill>
              </a:rPr>
              <a:t>Pilani, Deemed to be University under Section 3 of UGC Act, 1956</a:t>
            </a:r>
            <a:endParaRPr sz="1100" cap="none"/>
          </a:p>
        </p:txBody>
      </p:sp>
      <p:grpSp>
        <p:nvGrpSpPr>
          <p:cNvPr id="4" name="Google Shape;132;p18"/>
          <p:cNvGrpSpPr>
            <a:extLst>
              <a:ext uri="smNativeData">
                <pr:smNativeData xmlns:pr="smNativeData" xmlns="smNativeData" val="SMDATA_6_FM5saRMAAAAlAAAAAQAAAA8BAAAAkAAAAEgAAACQAAAASAAAAAAAAAAAAAAAAAAAABcAAAAUAAAAAAAAAAAAAAD/fwAA/38AAAAAAAAJAAAABAAAAP///wAfAAAAVAAAAAAAAAAAAAAAAAAAAAAAAAAAAAAAAAAAAAAAAAAAAAAAAAAAAAAAAAAAAAAAAAAAAAAAAAAAAAAAAAAAAAAAAAAAAAAAAAAAAAAAAAAAAAAAAAAAACEAAAAYAAAAFAAAANIMAABMKAAAQDgAAJgoAAAQAAAAJgAAAAgAAAD/////AAAAAA=="/>
              </a:ext>
            </a:extLst>
          </p:cNvGrpSpPr>
          <p:nvPr/>
        </p:nvGrpSpPr>
        <p:grpSpPr>
          <a:xfrm>
            <a:off x="2084070" y="6550660"/>
            <a:ext cx="7059930" cy="48260"/>
            <a:chOff x="2084070" y="6550660"/>
            <a:chExt cx="7059930" cy="48260"/>
          </a:xfrm>
        </p:grpSpPr>
        <p:sp>
          <p:nvSpPr>
            <p:cNvPr id="7" name="Google Shape;133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fBwAAEwoAADOKgAAmCgAAAAAAAAmAAAACAAAAP//////////"/>
                </a:ext>
              </a:extLst>
            </p:cNvSpPr>
            <p:nvPr/>
          </p:nvSpPr>
          <p:spPr>
            <a:xfrm>
              <a:off x="4630420" y="6550660"/>
              <a:ext cx="2327910" cy="482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134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4xwk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xwkAP///wEAAAAAAAAAAAAAAAAAAAAAAAAAAAAAAAAAAAAAAAAAAAAAAAJ/f38AH0l9A8zMzADAwP8Af39/AAAAAAAAAAAAAAAAAAAAAAAAAAAAIQAAABgAAAAUAAAAfyoAAEwoAABAOAAAkygAAAAAAAAmAAAACAAAAP//////////"/>
                </a:ext>
              </a:extLst>
            </p:cNvSpPr>
            <p:nvPr/>
          </p:nvSpPr>
          <p:spPr>
            <a:xfrm>
              <a:off x="6908165" y="6550660"/>
              <a:ext cx="2235835" cy="4508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135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0gwAAEwoAACxHAAAmCgAAAAAAAAmAAAACAAAAP//////////"/>
                </a:ext>
              </a:extLst>
            </p:cNvSpPr>
            <p:nvPr/>
          </p:nvSpPr>
          <p:spPr>
            <a:xfrm>
              <a:off x="2084070" y="6550660"/>
              <a:ext cx="2580005" cy="482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8" name="Google Shape;136;p18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vwAAAAAAAAAAAAAAEwI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MgoAAAAAAAARTYAAEIEAAAQAAAAJgAAAAgAAAD//////////w=="/>
              </a:ext>
            </a:extLst>
          </p:cNvPicPr>
          <p:nvPr/>
        </p:nvPicPr>
        <p:blipFill>
          <a:blip r:embed="rId1"/>
          <a:srcRect l="1910" t="0" r="0" b="5310"/>
          <a:stretch>
            <a:fillRect/>
          </a:stretch>
        </p:blipFill>
        <p:spPr>
          <a:xfrm>
            <a:off x="6629400" y="0"/>
            <a:ext cx="2192655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9" name="Google Shape;137;p18"/>
          <p:cNvGrpSpPr>
            <a:extLst>
              <a:ext uri="smNativeData">
                <pr:smNativeData xmlns:pr="smNativeData" xmlns="smNativeData" val="SMDATA_6_FM5saRMAAAAlAAAAAQAAAA8BAAAAkAAAAEgAAACQAAAASAAAAAAAAAAAAAAAAAAAABcAAAAUAAAAAAAAAAAAAAD/fwAA/38AAAAAAAAJAAAABAAAAAEAAAAfAAAAVAAAAAAAAAAAAAAAAAAAAAAAAAAAAAAAAAAAAAAAAAAAAAAAAAAAAAAAAAAAAAAAAAAAAAAAAAAAAAAAAAAAAAAAAAAAAAAAAAAAAAAAAAAAAAAAAAAAACEAAAAYAAAAFAAAACANAABQKAAAPzgAAJcoAAAQAAAAJgAAAAgAAAD/////AAAAAA=="/>
              </a:ext>
            </a:extLst>
          </p:cNvGrpSpPr>
          <p:nvPr/>
        </p:nvGrpSpPr>
        <p:grpSpPr>
          <a:xfrm>
            <a:off x="2133600" y="6553200"/>
            <a:ext cx="7009765" cy="45085"/>
            <a:chOff x="2133600" y="6553200"/>
            <a:chExt cx="7009765" cy="45085"/>
          </a:xfrm>
        </p:grpSpPr>
        <p:sp>
          <p:nvSpPr>
            <p:cNvPr id="12" name="Google Shape;138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Jkk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qBsAAFAoAAD6KQAAlygAAAAAAAAmAAAACAAAAP//////////"/>
                </a:ext>
              </a:extLst>
            </p:cNvSpPr>
            <p:nvPr/>
          </p:nvSpPr>
          <p:spPr>
            <a:xfrm>
              <a:off x="4495800" y="6553200"/>
              <a:ext cx="2327910" cy="4508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39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Mvsn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IA0AAFAoAACoGwAAlygAAAAAAAAmAAAACAAAAP//////////"/>
                </a:ext>
              </a:extLst>
            </p:cNvSpPr>
            <p:nvPr/>
          </p:nvSpPr>
          <p:spPr>
            <a:xfrm>
              <a:off x="2133600" y="6553200"/>
              <a:ext cx="2362200" cy="4508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40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7SkAAFAoAAA/OAAAlygAAAAAAAAmAAAACAAAAP//////////"/>
                </a:ext>
              </a:extLst>
            </p:cNvSpPr>
            <p:nvPr/>
          </p:nvSpPr>
          <p:spPr>
            <a:xfrm>
              <a:off x="6815455" y="6553200"/>
              <a:ext cx="2327910" cy="450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" name="Google Shape;141;p18"/>
          <p:cNvGrpSpPr>
            <a:extLst>
              <a:ext uri="smNativeData">
                <pr:smNativeData xmlns:pr="smNativeData" xmlns="smNativeData" val="SMDATA_6_FM5saRMAAAAlAAAAAQAAAA8BAAAAkAAAAEgAAACQAAAASAAAAAAAAAAAAAAAAAAAABcAAAAUAAAAAAAAAAAAAAD/fwAA/38AAAAAAAAJAAAABAAAAAEAAAAfAAAAVAAAAAAAAAAAAAAAAAAAAAAAAAAAAAAAAAAAAAAAAAAAAAAAAAAAAAAAAAAAAAAAAAAAAAAAAAAAAAAAAAAAAAAAAAAAAAAAAAAAAAAAAAAAAAAAAAAAACEAAAAYAAAAFAAAAAAAAAD4BwAAHysAAD8IAAAQAAAAJgAAAAgAAAD/////AAAAAA=="/>
              </a:ext>
            </a:extLst>
          </p:cNvGrpSpPr>
          <p:nvPr/>
        </p:nvGrpSpPr>
        <p:grpSpPr>
          <a:xfrm>
            <a:off x="0" y="1295400"/>
            <a:ext cx="7009765" cy="45085"/>
            <a:chOff x="0" y="1295400"/>
            <a:chExt cx="7009765" cy="45085"/>
          </a:xfrm>
        </p:grpSpPr>
        <p:sp>
          <p:nvSpPr>
            <p:cNvPr id="16" name="Google Shape;142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iA4AAPgHAADaHAAAPwgAAAAAAAAmAAAACAAAAP//////////"/>
                </a:ext>
              </a:extLst>
            </p:cNvSpPr>
            <p:nvPr/>
          </p:nvSpPr>
          <p:spPr>
            <a:xfrm>
              <a:off x="2362200" y="1295400"/>
              <a:ext cx="2327910" cy="4508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43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AAAAAPgHAACIDgAAPwgAAAAAAAAmAAAACAAAAP//////////"/>
                </a:ext>
              </a:extLst>
            </p:cNvSpPr>
            <p:nvPr/>
          </p:nvSpPr>
          <p:spPr>
            <a:xfrm>
              <a:off x="0" y="1295400"/>
              <a:ext cx="2362200" cy="4508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4;p18"/>
            <p:cNvSpPr>
              <a:extLst>
                <a:ext uri="smNativeData">
                  <pr:smNativeData xmlns:pr="smNativeData" xmlns="smNativeData" val="SMDATA_15_FM5s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zRwAAPgHAAAfKwAAPwgAAAAAAAAmAAAACAAAAP//////////"/>
                </a:ext>
              </a:extLst>
            </p:cNvSpPr>
            <p:nvPr/>
          </p:nvSpPr>
          <p:spPr>
            <a:xfrm>
              <a:off x="4681855" y="1295400"/>
              <a:ext cx="2327910" cy="450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" name="Google Shape;145;p18"/>
          <p:cNvSpPr>
            <a:spLocks noGrp="1" noChangeArrowheads="1"/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PAAAADHKAAA9wcAABAAAAAmAAAACAAAAL2/AAD/HwAA"/>
              </a:ext>
            </a:extLst>
          </p:cNvSpPr>
          <p:nvPr>
            <p:ph type="body" idx="2"/>
          </p:nvPr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18" name="Google Shape;146;p18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8BAABvNQAAuggAABAAAAAmAAAACAAAAL2/AAD/HwAA"/>
              </a:ext>
            </a:extLst>
          </p:cNvSpPr>
          <p:nvPr>
            <p:ph type="title"/>
          </p:nvPr>
        </p:nvSpPr>
        <p:spPr>
          <a:xfrm>
            <a:off x="457200" y="273685"/>
            <a:ext cx="8228965" cy="1144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9.pn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1.pn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2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2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2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2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2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0.png"/></Relationships>
</file>

<file path=ppt/slides/_rels/slide2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2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2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.png"/><Relationship Id="rId3" Type="http://schemas.openxmlformats.org/officeDocument/2006/relationships/image" Target="../media/image27.png"/></Relationships>
</file>

<file path=ppt/slides/_rels/slide3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jpeg"/><Relationship Id="rId3" Type="http://schemas.openxmlformats.org/officeDocument/2006/relationships/image" Target="../media/image29.png"/></Relationships>
</file>

<file path=ppt/slides/_rels/slide3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/Relationships>
</file>

<file path=ppt/slides/_rels/slide3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/Relationships>
</file>

<file path=ppt/slides/_rels/slide3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3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/Relationships>
</file>

<file path=ppt/slides/_rels/slide3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4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4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4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4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4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4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4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_rels/slide4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4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4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9;p1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wgwAAN0VAAB/NAAAVx0AABAAAAAmAAAACAAAAP//////////"/>
              </a:ext>
            </a:extLst>
          </p:cNvSpPr>
          <p:nvPr/>
        </p:nvSpPr>
        <p:spPr>
          <a:xfrm>
            <a:off x="2073910" y="3554095"/>
            <a:ext cx="6459855" cy="1215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r">
              <a:defRPr sz="2800" cap="none"/>
            </a:pPr>
            <a:r>
              <a:rPr lang="en-in" b="1" cap="none">
                <a:solidFill>
                  <a:srgbClr val="FFFFFF"/>
                </a:solidFill>
              </a:rPr>
              <a:t>Artificial computational  Intelligence</a:t>
            </a:r>
            <a:endParaRPr lang="en-us" b="1" cap="none">
              <a:solidFill>
                <a:srgbClr val="FFFFFF"/>
              </a:solidFill>
              <a:latin typeface="Calibri" pitchFamily="2" charset="0"/>
              <a:ea typeface="Times New Roman" pitchFamily="1" charset="0"/>
              <a:cs typeface="Calibri" pitchFamily="2" charset="0"/>
            </a:endParaRPr>
          </a:p>
          <a:p>
            <a:pPr algn="r">
              <a:defRPr sz="2800" cap="none"/>
            </a:pPr>
            <a:r>
              <a:rPr lang="en-us" b="1" cap="none">
                <a:solidFill>
                  <a:srgbClr val="FFC000"/>
                </a:solidFill>
                <a:latin typeface="Calibri" pitchFamily="2" charset="0"/>
                <a:ea typeface="Times New Roman" pitchFamily="1" charset="0"/>
                <a:cs typeface="Calibri" pitchFamily="2" charset="0"/>
              </a:rPr>
              <a:t>CS 1-Introduction</a:t>
            </a:r>
            <a:endParaRPr lang="en-in" b="1" cap="none">
              <a:solidFill>
                <a:srgbClr val="FFC000"/>
              </a:solidFill>
              <a:latin typeface="Calibri" pitchFamily="2" charset="0"/>
              <a:ea typeface="Times New Roman" pitchFamily="1" charset="0"/>
              <a:cs typeface="Calibri" pitchFamily="2" charset="0"/>
            </a:endParaRPr>
          </a:p>
        </p:txBody>
      </p:sp>
      <p:sp>
        <p:nvSpPr>
          <p:cNvPr id="3" name="Google Shape;200;p1"/>
          <p:cNvSpPr>
            <a:extLst>
              <a:ext uri="smNativeData">
                <pr:smNativeData xmlns:pr="smNativeData" xmlns="smNativeData" val="SMDATA_15_FM5s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8w0AAPAeAACoNAAAFSQAABAAAAAmAAAACAAAAP//////////"/>
              </a:ext>
            </a:extLst>
          </p:cNvSpPr>
          <p:nvPr/>
        </p:nvSpPr>
        <p:spPr>
          <a:xfrm>
            <a:off x="2267585" y="5029200"/>
            <a:ext cx="6292215" cy="8362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  <a:defRPr lang="en-us" sz="2000" cap="none">
                <a:solidFill>
                  <a:srgbClr val="FFFF00"/>
                </a:solidFill>
                <a:latin typeface="Calibri" pitchFamily="2" charset="0"/>
                <a:ea typeface="Arial" pitchFamily="1" charset="0"/>
                <a:cs typeface="Calibri" pitchFamily="2" charset="0"/>
              </a:defRPr>
            </a:pPr>
            <a:r>
              <a:t>Prof. Brahmanaidu Kakarla</a:t>
            </a:r>
          </a:p>
          <a:p>
            <a:pPr marL="0" marR="0" indent="0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  <a:defRPr lang="en-us" sz="2000" cap="none">
                <a:solidFill>
                  <a:srgbClr val="FFFF00"/>
                </a:solidFill>
                <a:latin typeface="Calibri" pitchFamily="2" charset="0"/>
                <a:ea typeface="Arial" pitchFamily="1" charset="0"/>
                <a:cs typeface="Calibri" pitchFamily="2" charset="0"/>
              </a:defRPr>
            </a:pPr>
            <a:r>
              <a:t>Guest Faculty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5;p2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P//////////"/>
              </a:ext>
            </a:extLst>
          </p:cNvSpPr>
          <p:nvPr/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7F"/>
                </a:solidFill>
              </a:defRPr>
            </a:pPr>
            <a:r>
              <a:rPr lang="en-in" sz="3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Agenda</a:t>
            </a:r>
            <a:endParaRPr sz="3600" b="1" cap="none"/>
          </a:p>
        </p:txBody>
      </p:sp>
      <p:sp>
        <p:nvSpPr>
          <p:cNvPr id="3" name="Google Shape;206;p2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Z+B9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vwMAAJ4KAAAQNQAA4h4AABAAAAAmAAAACAAAAP//////////"/>
              </a:ext>
            </a:extLst>
          </p:cNvSpPr>
          <p:nvPr/>
        </p:nvSpPr>
        <p:spPr>
          <a:xfrm>
            <a:off x="608965" y="1725930"/>
            <a:ext cx="8016875" cy="3294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lvl="2" marL="342900" indent="-342900">
              <a:buSzPts val="2800"/>
              <a:buFont typeface="Wingdings" pitchFamily="2" charset="2"/>
              <a:buBlip>
                <a:blip r:embed="rId3"/>
              </a:buBlip>
              <a:defRPr b="1" cap="none">
                <a:solidFill>
                  <a:schemeClr val="accent1"/>
                </a:solidFill>
              </a:defRPr>
            </a:pPr>
            <a:r>
              <a:rPr lang="en-in" sz="3200" cap="none">
                <a:latin typeface="Calibri" pitchFamily="2" charset="0"/>
                <a:ea typeface="Calibri" pitchFamily="2" charset="0"/>
                <a:cs typeface="Calibri" pitchFamily="2" charset="0"/>
              </a:rPr>
              <a:t>Course details</a:t>
            </a:r>
            <a:endParaRPr lang="en-in" sz="32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2" marL="342900" indent="-342900">
              <a:buSzPts val="2800"/>
              <a:buFont typeface="Wingdings" pitchFamily="2" charset="2"/>
              <a:buBlip>
                <a:blip r:embed="rId3"/>
              </a:buBlip>
              <a:defRPr b="1" cap="none">
                <a:solidFill>
                  <a:schemeClr val="accent1"/>
                </a:solidFill>
              </a:defRPr>
            </a:pPr>
            <a:r>
              <a:rPr lang="en-in" sz="3200" cap="none">
                <a:latin typeface="Calibri" pitchFamily="2" charset="0"/>
                <a:ea typeface="Calibri" pitchFamily="2" charset="0"/>
                <a:cs typeface="Calibri" pitchFamily="2" charset="0"/>
              </a:rPr>
              <a:t>Definition of AI</a:t>
            </a:r>
            <a:endParaRPr lang="en-in" sz="32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2" marL="342900" indent="-342900">
              <a:buSzPts val="2800"/>
              <a:buFont typeface="Wingdings" pitchFamily="2" charset="2"/>
              <a:buBlip>
                <a:blip r:embed="rId3"/>
              </a:buBlip>
              <a:defRPr b="1" cap="none">
                <a:solidFill>
                  <a:schemeClr val="accent1"/>
                </a:solidFill>
              </a:defRPr>
            </a:pPr>
            <a:r>
              <a:rPr lang="en-us" sz="3200" cap="none">
                <a:latin typeface="Calibri" pitchFamily="2" charset="0"/>
                <a:ea typeface="Calibri" pitchFamily="2" charset="0"/>
                <a:cs typeface="Calibri" pitchFamily="2" charset="0"/>
              </a:rPr>
              <a:t>Different perspectives of AI</a:t>
            </a:r>
            <a:endParaRPr lang="en-us" sz="32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2" marL="342900" indent="-342900">
              <a:buSzPts val="2800"/>
              <a:buFont typeface="Wingdings" pitchFamily="2" charset="2"/>
              <a:buBlip>
                <a:blip r:embed="rId3"/>
              </a:buBlip>
              <a:defRPr b="1" cap="none">
                <a:solidFill>
                  <a:schemeClr val="accent1"/>
                </a:solidFill>
              </a:defRPr>
            </a:pPr>
            <a:r>
              <a:rPr lang="en-us" sz="3200" cap="none">
                <a:latin typeface="Calibri" pitchFamily="2" charset="0"/>
                <a:ea typeface="Calibri" pitchFamily="2" charset="0"/>
                <a:cs typeface="Calibri" pitchFamily="2" charset="0"/>
              </a:rPr>
              <a:t>Application of AI</a:t>
            </a:r>
            <a:endParaRPr lang="en-us" sz="32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2" marL="342900" indent="-342900">
              <a:buSzPts val="2800"/>
              <a:buFont typeface="Wingdings" pitchFamily="2" charset="2"/>
              <a:buBlip>
                <a:blip r:embed="rId3"/>
              </a:buBlip>
              <a:defRPr b="1" cap="none">
                <a:solidFill>
                  <a:schemeClr val="accent1"/>
                </a:solidFill>
              </a:defRPr>
            </a:pPr>
            <a:r>
              <a:rPr lang="en-us" sz="3200" cap="none">
                <a:latin typeface="Calibri" pitchFamily="2" charset="0"/>
                <a:ea typeface="Calibri" pitchFamily="2" charset="0"/>
                <a:cs typeface="Calibri" pitchFamily="2" charset="0"/>
              </a:rPr>
              <a:t>Challenges of AI</a:t>
            </a:r>
            <a:endParaRPr lang="en-us" sz="32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b="1" cap="none">
                <a:solidFill>
                  <a:schemeClr val="accent1"/>
                </a:solidFill>
              </a:defRPr>
            </a:pPr>
            <a:endParaRPr sz="3200" cap="none"/>
          </a:p>
        </p:txBody>
      </p:sp>
      <p:sp>
        <p:nvSpPr>
          <p:cNvPr id="4" name="Google Shape;207;p2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A/OAAALCgAABAAAAAmAAAACAAAAP//////////"/>
              </a:ext>
            </a:extLst>
          </p:cNvSpPr>
          <p:nvPr/>
        </p:nvSpPr>
        <p:spPr>
          <a:xfrm>
            <a:off x="8532495" y="6237605"/>
            <a:ext cx="61087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3AEAE2C-62FE-FB58-B016-940DE05846C1}" type="slidenum">
              <a:rPr lang="en-in" sz="18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2</a:t>
            </a:fld>
            <a:endParaRPr sz="18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NgJAABvNQAAryU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3200" cap="none">
                <a:solidFill>
                  <a:srgbClr val="7030A0"/>
                </a:solidFill>
              </a:rPr>
              <a:t>Course details</a:t>
            </a:r>
            <a:endParaRPr lang="en-in" sz="3200" cap="none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2;g5aec7bfc83_0_187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Hth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cHAACANAAAzyMAABAAAAAmAAAACAAAAP//////////"/>
              </a:ext>
            </a:extLst>
          </p:cNvSpPr>
          <p:nvPr/>
        </p:nvSpPr>
        <p:spPr>
          <a:xfrm>
            <a:off x="304800" y="1294765"/>
            <a:ext cx="82296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457200" marR="0" indent="-38036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 typeface="Arial" pitchFamily="1" charset="0"/>
              <a:buChar char="●"/>
            </a:pPr>
            <a:r>
              <a:rPr lang="en-in" sz="2000" cap="none"/>
              <a:t>Focus on</a:t>
            </a:r>
            <a:endParaRPr sz="2000" cap="none"/>
          </a:p>
          <a:p>
            <a:pPr lvl="1" marL="914400" marR="0" indent="-3683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Arial" pitchFamily="1" charset="0"/>
              <a:buChar char="○"/>
            </a:pPr>
            <a:r>
              <a:rPr lang="en-in" sz="2000" cap="none"/>
              <a:t>principles of artificial intelligence</a:t>
            </a:r>
            <a:endParaRPr sz="2000" cap="none"/>
          </a:p>
          <a:p>
            <a:pPr lvl="1" marL="914400" marR="0" indent="-3683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Arial" pitchFamily="1" charset="0"/>
              <a:buChar char="○"/>
            </a:pPr>
            <a:r>
              <a:rPr lang="en-in" sz="2000" cap="none"/>
              <a:t>concepts, algorithms involved in building rational agents</a:t>
            </a:r>
            <a:endParaRPr sz="2000" cap="none"/>
          </a:p>
          <a:p>
            <a:pPr lvl="1" marL="914400" marR="0" indent="-3683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Arial" pitchFamily="1" charset="0"/>
              <a:buChar char="○"/>
            </a:pPr>
            <a:r>
              <a:rPr lang="en-in" sz="2000" cap="none"/>
              <a:t>topics covered like </a:t>
            </a:r>
            <a:endParaRPr sz="2000" cap="none"/>
          </a:p>
          <a:p>
            <a:pPr lvl="2" marL="1371600" marR="0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itchFamily="1" charset="0"/>
              <a:buChar char="■"/>
            </a:pPr>
            <a:r>
              <a:rPr lang="en-in" sz="2000" cap="none"/>
              <a:t>Problem solving &amp;knowledge representation</a:t>
            </a:r>
            <a:endParaRPr sz="2000" cap="none"/>
          </a:p>
          <a:p>
            <a:pPr lvl="2" marL="1371600" marR="0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itchFamily="1" charset="0"/>
              <a:buChar char="■"/>
            </a:pPr>
            <a:r>
              <a:rPr lang="en-in" sz="2000" cap="none"/>
              <a:t>Reasoning </a:t>
            </a:r>
            <a:endParaRPr lang="en-in" sz="2000" cap="none"/>
          </a:p>
          <a:p>
            <a:pPr lvl="2" marL="1371600" marR="0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itchFamily="1" charset="0"/>
              <a:buChar char="■"/>
            </a:pPr>
            <a:r>
              <a:rPr lang="en-in" sz="2000" cap="none"/>
              <a:t>a bit of learning (reinforcement learning</a:t>
            </a:r>
            <a:r>
              <a:rPr lang="en-in" sz="1800" cap="none"/>
              <a:t>) </a:t>
            </a:r>
            <a:endParaRPr lang="en-in" sz="1800" cap="none"/>
          </a:p>
          <a:p>
            <a:pPr lvl="2" marL="1371600" marR="0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itchFamily="1" charset="0"/>
              <a:buChar char="■"/>
            </a:pPr>
            <a:r>
              <a:rPr lang="en-us" sz="1800" cap="none"/>
              <a:t>Application of AI</a:t>
            </a:r>
            <a:endParaRPr sz="1800" cap="none"/>
          </a:p>
        </p:txBody>
      </p:sp>
      <p:sp>
        <p:nvSpPr>
          <p:cNvPr id="3" name="Google Shape;343;g5aec7bfc83_0_187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twQAAPAAAADHKAAA6QYAABAAAAAmAAAACAAAAP//////////"/>
              </a:ext>
            </a:extLst>
          </p:cNvSpPr>
          <p:nvPr/>
        </p:nvSpPr>
        <p:spPr>
          <a:xfrm>
            <a:off x="766445" y="152400"/>
            <a:ext cx="5862320" cy="9709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pPr>
            <a:r>
              <a:rPr lang="en-in" b="1" cap="none">
                <a:solidFill>
                  <a:srgbClr val="C00000"/>
                </a:solidFill>
              </a:rPr>
              <a:t>About the course</a:t>
            </a:r>
            <a:endParaRPr lang="en-in" b="1" cap="none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9;g5aec7bfc83_0_193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DEJAACANAAACCUAABAAAAAmAAAACAAAAP//////////"/>
              </a:ext>
            </a:extLst>
          </p:cNvSpPr>
          <p:nvPr/>
        </p:nvSpPr>
        <p:spPr>
          <a:xfrm>
            <a:off x="304800" y="1494155"/>
            <a:ext cx="8229600" cy="4525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7683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cap="none"/>
              <a:t>Text Book</a:t>
            </a: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cap="none"/>
              <a:t>Exercises</a:t>
            </a:r>
            <a:r>
              <a:rPr lang="en-in" sz="2000" cap="none"/>
              <a:t> : In Python &amp; its libraries</a:t>
            </a:r>
            <a:endParaRPr sz="20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000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cap="none"/>
              <a:t>Evaluation</a:t>
            </a:r>
            <a:r>
              <a:rPr lang="en-in" sz="2000" cap="none"/>
              <a:t>:  </a:t>
            </a:r>
            <a:r>
              <a:rPr lang="en-in" sz="2000" cap="none">
                <a:solidFill>
                  <a:srgbClr val="7030A0"/>
                </a:solidFill>
              </a:rPr>
              <a:t>20% LAB</a:t>
            </a:r>
            <a:r>
              <a:rPr lang="en-in" sz="2000" cap="none"/>
              <a:t> +</a:t>
            </a:r>
            <a:r>
              <a:rPr lang="en-in" sz="2000" cap="none">
                <a:solidFill>
                  <a:srgbClr val="7030A0"/>
                </a:solidFill>
              </a:rPr>
              <a:t> 10%</a:t>
            </a:r>
            <a:r>
              <a:rPr lang="en-in" sz="2000" cap="none"/>
              <a:t>(2X5) Quiz + </a:t>
            </a:r>
            <a:r>
              <a:rPr lang="en-in" sz="2000" cap="none">
                <a:solidFill>
                  <a:srgbClr val="7030A0"/>
                </a:solidFill>
              </a:rPr>
              <a:t> 30% </a:t>
            </a:r>
            <a:r>
              <a:rPr lang="en-in" sz="2000" cap="none"/>
              <a:t> Mid Semester +</a:t>
            </a:r>
            <a:r>
              <a:rPr lang="en-in" sz="2000" cap="none">
                <a:solidFill>
                  <a:srgbClr val="7030A0"/>
                </a:solidFill>
              </a:rPr>
              <a:t> 40%</a:t>
            </a:r>
            <a:r>
              <a:rPr lang="en-in" sz="2000" cap="none"/>
              <a:t> End Semester</a:t>
            </a:r>
            <a:r>
              <a:rPr sz="2000" cap="none"/>
              <a:t>.</a:t>
            </a:r>
            <a:endParaRPr sz="2000" cap="none"/>
          </a:p>
        </p:txBody>
      </p:sp>
      <p:sp>
        <p:nvSpPr>
          <p:cNvPr id="3" name="Google Shape;350;g5aec7bfc83_0_193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sAUAAIYBAADNJwAAxAYAABAAAAAmAAAACAAAAP//////////"/>
              </a:ext>
            </a:extLst>
          </p:cNvSpPr>
          <p:nvPr/>
        </p:nvSpPr>
        <p:spPr>
          <a:xfrm>
            <a:off x="924560" y="247650"/>
            <a:ext cx="5545455" cy="8521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pPr>
            <a:r>
              <a:rPr lang="en-in" b="1" cap="none">
                <a:solidFill>
                  <a:srgbClr val="C00000"/>
                </a:solidFill>
              </a:rPr>
              <a:t>About the course</a:t>
            </a:r>
            <a:endParaRPr lang="en-in" b="1" cap="none">
              <a:solidFill>
                <a:srgbClr val="C00000"/>
              </a:solidFill>
            </a:endParaRPr>
          </a:p>
        </p:txBody>
      </p:sp>
      <p:pic>
        <p:nvPicPr>
          <p:cNvPr id="4" name="Google Shape;351;g5aec7bfc83_0_193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k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EQWAABMCQAAbjAAAJUb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1511300"/>
            <a:ext cx="4253230" cy="297243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9;g5aec7bfc83_0_193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AQJAACANAAAjScAABAAAAAmAAAACAAAAP//////////"/>
              </a:ext>
            </a:extLst>
          </p:cNvSpPr>
          <p:nvPr/>
        </p:nvSpPr>
        <p:spPr>
          <a:xfrm>
            <a:off x="304800" y="1465580"/>
            <a:ext cx="8229600" cy="4963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b="1" cap="none"/>
              <a:t>Exercises</a:t>
            </a:r>
            <a:r>
              <a:rPr lang="en-in" sz="1800" cap="none"/>
              <a:t> : In Python &amp; its libraries</a:t>
            </a:r>
            <a:endParaRPr sz="18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</p:txBody>
      </p:sp>
      <p:sp>
        <p:nvSpPr>
          <p:cNvPr id="3" name="Google Shape;350;g5aec7bfc83_0_193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pPr>
            <a:r>
              <a:rPr lang="en-in" b="1" cap="none">
                <a:solidFill>
                  <a:srgbClr val="C00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About Labs</a:t>
            </a:r>
            <a:endParaRPr cap="none">
              <a:latin typeface="Calibri" pitchFamily="2" charset="0"/>
              <a:ea typeface="Arial" pitchFamily="1" charset="0"/>
              <a:cs typeface="Calibri" pitchFamily="2" charset="0"/>
            </a:endParaRPr>
          </a:p>
        </p:txBody>
      </p:sp>
      <p:pic>
        <p:nvPicPr>
          <p:cNvPr id="4" name="Picture 1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LMDAAAxCQAAQTQAABIj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01345" y="1494155"/>
            <a:ext cx="7893050" cy="42068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9;g5aec7bfc83_0_193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AQJAACANAAAjScAABAAAAAmAAAACAAAAP//////////"/>
              </a:ext>
            </a:extLst>
          </p:cNvSpPr>
          <p:nvPr/>
        </p:nvSpPr>
        <p:spPr>
          <a:xfrm>
            <a:off x="304800" y="1465580"/>
            <a:ext cx="8229600" cy="4963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800" b="1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b="1" cap="none"/>
              <a:t>Exercises</a:t>
            </a:r>
            <a:r>
              <a:rPr lang="en-in" sz="1800" cap="none"/>
              <a:t> : In Python &amp; its libraries</a:t>
            </a:r>
            <a:endParaRPr sz="1800" cap="none"/>
          </a:p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cap="none"/>
          </a:p>
        </p:txBody>
      </p:sp>
      <p:sp>
        <p:nvSpPr>
          <p:cNvPr id="3" name="Google Shape;350;g5aec7bfc83_0_193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CEJwAAlwYAABAAAAAmAAAACAAAAP//////////"/>
              </a:ext>
            </a:extLst>
          </p:cNvSpPr>
          <p:nvPr/>
        </p:nvSpPr>
        <p:spPr>
          <a:xfrm>
            <a:off x="304800" y="152400"/>
            <a:ext cx="6118860" cy="918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pPr>
            <a:r>
              <a:rPr lang="en-in" b="1" cap="none">
                <a:solidFill>
                  <a:srgbClr val="C00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About Labs</a:t>
            </a:r>
            <a:endParaRPr cap="none">
              <a:latin typeface="Calibri" pitchFamily="2" charset="0"/>
              <a:ea typeface="Arial" pitchFamily="1" charset="0"/>
              <a:cs typeface="Calibri" pitchFamily="2" charset="0"/>
            </a:endParaRPr>
          </a:p>
        </p:txBody>
      </p:sp>
      <p:pic>
        <p:nvPicPr>
          <p:cNvPr id="4" name="Picture 4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owMAAMcDAAAAAAAA0RMAAAAAAABkAAAAZAAAAAAAAAAjAAAABAAAAGQAAAAXAAAAFAAAAAAAAAAAAAAA/38AAP9/AAAAAAAACQAAAAQAAABNRCNZ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NICAAAKCQAAaC4AAHsUAAAQAAAAJgAAAAgAAAD//////////w=="/>
              </a:ext>
            </a:extLst>
          </p:cNvPicPr>
          <p:nvPr/>
        </p:nvPicPr>
        <p:blipFill>
          <a:blip r:embed="rId3"/>
          <a:srcRect l="9310" t="9670" r="0" b="50730"/>
          <a:stretch>
            <a:fillRect/>
          </a:stretch>
        </p:blipFill>
        <p:spPr>
          <a:xfrm>
            <a:off x="458470" y="1469390"/>
            <a:ext cx="7085330" cy="18599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5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gQMAAAUEAAAAAAAAyhQAAAAAAABkAAAAZAAAAAAAAAAjAAAABAAAAGQAAAAXAAAAFAAAAAAAAAAAAAAA/38AAP9/AAAAAAAACQAAAAQAAAAAAAM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NICAAB7FAAAaC4AAIAeAAAQAAAAJgAAAAgAAAD//////////w=="/>
              </a:ext>
            </a:extLst>
          </p:cNvPicPr>
          <p:nvPr/>
        </p:nvPicPr>
        <p:blipFill>
          <a:blip r:embed="rId4"/>
          <a:srcRect l="8970" t="10290" r="0" b="53220"/>
          <a:stretch>
            <a:fillRect/>
          </a:stretch>
        </p:blipFill>
        <p:spPr>
          <a:xfrm>
            <a:off x="458470" y="3329305"/>
            <a:ext cx="7085330" cy="16287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6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gQMAAMcDAAAAAAAAjBQ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NICAAA8HgAAMycAAPApAAAQAAAAJgAAAAgAAAD//////////w=="/>
              </a:ext>
            </a:extLst>
          </p:cNvPicPr>
          <p:nvPr/>
        </p:nvPicPr>
        <p:blipFill>
          <a:blip r:embed="rId5"/>
          <a:srcRect l="8970" t="9670" r="0" b="52600"/>
          <a:stretch>
            <a:fillRect/>
          </a:stretch>
        </p:blipFill>
        <p:spPr>
          <a:xfrm>
            <a:off x="458470" y="4914900"/>
            <a:ext cx="5913755" cy="190246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2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JDg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DAbAACAHgAAnzUAALInAAAQAAAAJgAAAAgAAAD//////////w=="/>
              </a:ext>
            </a:extLst>
          </p:cNvPicPr>
          <p:nvPr/>
        </p:nvPicPr>
        <p:blipFill>
          <a:blip r:embed="rId6"/>
          <a:srcRect l="0" t="0" r="35930" b="0"/>
          <a:stretch>
            <a:fillRect/>
          </a:stretch>
        </p:blipFill>
        <p:spPr>
          <a:xfrm>
            <a:off x="4419600" y="4958080"/>
            <a:ext cx="4297045" cy="149479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9;g5aec7bfc83_0_193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KAMAAEklAAB3NQAALCgAABAAAAAmAAAACAAAAP//////////"/>
              </a:ext>
            </a:extLst>
          </p:cNvSpPr>
          <p:nvPr/>
        </p:nvSpPr>
        <p:spPr>
          <a:xfrm>
            <a:off x="513080" y="6061075"/>
            <a:ext cx="8178165" cy="4692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45720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b="1" cap="none"/>
              <a:t>Exercises</a:t>
            </a:r>
            <a:r>
              <a:rPr lang="en-in" sz="1800" cap="none"/>
              <a:t> : In Python &amp; its libraries</a:t>
            </a:r>
            <a:endParaRPr sz="1800" cap="none"/>
          </a:p>
        </p:txBody>
      </p:sp>
      <p:sp>
        <p:nvSpPr>
          <p:cNvPr id="3" name="Google Shape;350;g5aec7bfc83_0_193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VuZF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JAIAAC8BAAALKQAANwgAABAAAAAmAAAACAAAAP//////////"/>
              </a:ext>
            </a:extLst>
          </p:cNvSpPr>
          <p:nvPr/>
        </p:nvSpPr>
        <p:spPr>
          <a:xfrm>
            <a:off x="347980" y="192405"/>
            <a:ext cx="6323965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pPr>
            <a:r>
              <a:rPr lang="en-in" b="1" cap="none">
                <a:solidFill>
                  <a:srgbClr val="C00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About Labs</a:t>
            </a:r>
            <a:endParaRPr cap="none">
              <a:latin typeface="Calibri" pitchFamily="2" charset="0"/>
              <a:ea typeface="Arial" pitchFamily="1" charset="0"/>
              <a:cs typeface="Calibri" pitchFamily="2" charset="0"/>
            </a:endParaRPr>
          </a:p>
        </p:txBody>
      </p:sp>
      <p:pic>
        <p:nvPicPr>
          <p:cNvPr id="4" name="Picture 1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Bscj48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GoFAACUCAAAtR4AAA8W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394460"/>
            <a:ext cx="4111625" cy="21913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8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kgMAAMcDAAAAAAAAjBQ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DADAACaFgAAkTUAAJckAAAQAAAAJgAAAAgAAAD//////////w=="/>
              </a:ext>
            </a:extLst>
          </p:cNvPicPr>
          <p:nvPr/>
        </p:nvPicPr>
        <p:blipFill>
          <a:blip r:embed="rId4"/>
          <a:srcRect l="9140" t="9670" r="0" b="52600"/>
          <a:stretch>
            <a:fillRect/>
          </a:stretch>
        </p:blipFill>
        <p:spPr>
          <a:xfrm>
            <a:off x="518160" y="3674110"/>
            <a:ext cx="8189595" cy="227393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wQEAAFkBAABnJwAAlAYAABAAAAAmAAAACAAAAAEAAAAAAAAA"/>
              </a:ext>
            </a:extLst>
          </p:cNvSpPr>
          <p:nvPr>
            <p:ph type="title"/>
          </p:nvPr>
        </p:nvSpPr>
        <p:spPr>
          <a:xfrm>
            <a:off x="285115" y="219075"/>
            <a:ext cx="6120130" cy="850265"/>
          </a:xfrm>
        </p:spPr>
        <p:txBody>
          <a:bodyPr/>
          <a:lstStyle/>
          <a:p>
            <a:pPr algn="ctr"/>
            <a:r>
              <a:rPr lang="en-us" sz="3600" cap="none"/>
              <a:t>AI in real life</a:t>
            </a:r>
            <a:endParaRPr lang="en-in" sz="3600" cap="none"/>
          </a:p>
        </p:txBody>
      </p:sp>
      <p:pic>
        <p:nvPicPr>
          <p:cNvPr id="3" name="Picture 3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EAAAAAAAAAAAAAAAAAAAAM/v//uAsAAAEAAADgVAAAAAAAAAAAAAABAAAAAAAAAAAAAABkAAAAAAAAABQAAAAAAAAAAAAAACYAAAAAAAAAwgAAAAAAAAAmAAAAZAAAABYAAABMAAAAAAAAAAAAAAAEAAAAAAAAAAEAAAAfSX0KAAAAACgAAAAoAAAAZAAAAGQAAAAAAAAAzMzMAAAAAABQAAAAUAAAAGQAAABkAAAAAAAAAAcAAAA4AAAAAAAAAAAAAAAAAAAA////AAAAAAAAAAAAAAAAAAAAAAAAAAAAAAAAAAAAAABkAAAAZAAAAAAAAAAjAAAABAAAAGQAAAAXAAAAFAAAAAAAAAAAAAAA/38AAP9/AAAAAAAACQAAAAQAAACqqqqqHgAAAGgAAAAAAAAAAAAAAAAAAAAAAAAAAAAAABAnAAAQJwAAAAAAAAAAAAAAAAAAAAAAAAAAAAAAAAAAAAAAAAAAAAAUAAAAAAAAAMDA/wABAAAAHgAAAEYAAAAIAAAAZAAAAAAAAAB/f38ACgAAACIAAAAYAAAAAgAAAGQAAABQAAAAAAAAAAAAAAAAAAAAJAAAACQAAAAAAAAABwAAAAAAAAAAAAAAAAAAAAAAAAAAAAAAAAAAAH9/fwAlAAAAWAAAAAEAAAAAAAAAAAAAAAAAAAAAAAAAAAAAAAAAAAAAAAAAAAAAAAAAAAAAAAAANgAAAOAyKQCghgEA4JMEAMAfLgEAAAAADAAAAAEAAAAAAAAAAAAAAOAyKQAfAAAAVAAAAE+BvQX///8BAAAAAAAAAAAAAAAAAAAAAAAAAAAAAAAAAAAAAAAAAAAAAAACAAAAAB9JfQPMzMwAwMD/AH9/fwAAAAAAAAAAAAAAAAD///8AAAAAACEAAAAYAAAAFAAAAMEBAAAJCQAAEB0AAFUX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85115" y="1468755"/>
            <a:ext cx="4439285" cy="2324100"/>
          </a:xfrm>
          <a:prstGeom prst="rect">
            <a:avLst/>
          </a:prstGeom>
          <a:noFill/>
          <a:ln>
            <a:noFill/>
          </a:ln>
          <a:effectLst>
            <a:reflection stA="30000" endPos="30000" dist="5080" dir="5400000" sy="-100000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 prstMaterial="warmMatte">
            <a:bevelT w="63500" h="50800" prst="circle"/>
          </a:sp3d>
        </p:spPr>
      </p:pic>
      <p:sp>
        <p:nvSpPr>
          <p:cNvPr id="4" name="TextBox 4"/>
          <p:cNvSpPr>
            <a:extLst>
              <a:ext uri="smNativeData">
                <pr:smNativeData xmlns:pr="smNativeData" xmlns="smNativeData" val="SMDATA_15_FM5s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H0l9A8zMzADAwP8Af39/AAAAAAAAAAAAAAAAAAAAAAAAAAAAIQAAABgAAAAUAAAA4AQAAFMXAADIHgAAyRkAABAgAAAmAAAACAAAAP//////////"/>
              </a:ext>
            </a:extLst>
          </p:cNvSpPr>
          <p:nvPr/>
        </p:nvSpPr>
        <p:spPr>
          <a:xfrm>
            <a:off x="792480" y="3791585"/>
            <a:ext cx="421132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us" sz="2000" cap="none"/>
              <a:t>Self driving cars</a:t>
            </a:r>
            <a:endParaRPr lang="en-in" sz="2000" cap="none"/>
          </a:p>
        </p:txBody>
      </p:sp>
      <p:pic>
        <p:nvPicPr>
          <p:cNvPr id="5" name="Picture 5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BAAAAAAAAAP///wAsAQAAAQAAACMAAAAjAAAAIwAAAB4AAAAAAAAAZAAAAGQAAAAAAAAAZAAAAGQAAAAVAAAAYAAAAAEAAAAAAAAAFAAAAAAAAAAAAAAAAAAAAAAAAAD///9/AAAAAAAAAAABAAAA7u7uAAAAAABkAAAAAAAAABQAAAAAAAAAAAAAACYAAAAAAAAASAAAAAAAAAAmAAAAZAAAABYAAABMAAAAAQAAAAAAAAAAAAAAAAAAAAEAAAAAAAAARgAAAL7////S////ZAAAAGQAAABFAQAAy8vLAEYAAAC+////0v///2QAAABkAAAARQEAAAcAAAA4AAAAAAAAAAAAAAAAAAAA////AAAAAAAAAAAAAAAAAAAAAAAAAAAAAAAAAAAAAABkAAAAZAAAAAAAAAAjAAAABAAAAGQAAAAXAAAAFAAAAAAAAAAAAAAA/38AAP9/AAAAAAAACQAAAAQAAAAAAAAAHgAAAGgAAAAAAAAAAAAAAAAAAAAAAAAAAAAAABAnAAAQJwAAAAAAAAAAAAAAAAAAAAAAAAAAAAAAAAAAAAAAAAAAAABmAAAAAAAAAMDA/wAAAAAAAAAAAAAAAAAAAAAAZAAAAAAAAAB/f38ACgAAACIAAAAYAAAAAgAAACgAAAAeAAAAAAAAAAAAAAAAAAAAJAAAACQAAAABAAAABwAAAAAAAAAUAAAAAQAAAJaWlgAAAAAAAAAAAH9/fwAlAAAAWAAAAAEAAAAAAAAAAAAAAAAAAAAAAAAAAAAAAAAAAAAAAAAAAAAAAAAAAAAAAAAAEgAAAAAAAACghgEAAAAAAAAAAABAfgUAGAAAAAEAAAAAAAAAAAAAAADdbQAfAAAAVAAAAO7u7gD///8BAAAAAAAAAAAAAAAAAAAAAAAAAAAAAAAAAAAAAAAAAAD///8A7u7uAAAAAADLy8sAwMD/AH9/fwAAAAAAAAAAAAAAAAD///8AAAAAACEAAAAYAAAAFAAAACAeAAC2BwAAIzUAABsb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897120" y="1253490"/>
            <a:ext cx="3740785" cy="3152775"/>
          </a:xfrm>
          <a:prstGeom prst="rect">
            <a:avLst/>
          </a:prstGeom>
          <a:solidFill>
            <a:srgbClr val="EEEEEE"/>
          </a:solidFill>
          <a:ln w="190500" cap="flat" cmpd="sng" algn="ctr">
            <a:solidFill>
              <a:srgbClr val="FFFFFF"/>
            </a:solidFill>
            <a:prstDash val="solid"/>
            <a:headEnd type="none"/>
            <a:tailEnd type="none"/>
          </a:ln>
          <a:effectLst>
            <a:outerShdw blurRad="64770" dist="51085" dir="12892520" kx="195000" algn="tl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 prstMaterial="warmMatte">
            <a:bevelT w="25400" h="19050" prst="circle"/>
            <a:contourClr>
              <a:srgbClr val="969696"/>
            </a:contourClr>
          </a:sp3d>
        </p:spPr>
      </p:pic>
      <p:sp>
        <p:nvSpPr>
          <p:cNvPr id="6" name="TextBox 6"/>
          <p:cNvSpPr>
            <a:extLst>
              <a:ext uri="smNativeData">
                <pr:smNativeData xmlns:pr="smNativeData" xmlns="smNativeData" val="SMDATA_15_FM5s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H0l9A8zMzADAwP8Af39/AAAAAAAAAAAAAAAAAAAAAAAAAAAAIQAAABgAAAAUAAAA7SUAAIwbAAAPNwAA0R0AABAgAAAmAAAACAAAAP//////////"/>
              </a:ext>
            </a:extLst>
          </p:cNvSpPr>
          <p:nvPr/>
        </p:nvSpPr>
        <p:spPr>
          <a:xfrm rot="21189078">
            <a:off x="6165215" y="4478020"/>
            <a:ext cx="2785110" cy="3689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us" sz="1800" cap="none"/>
              <a:t>Google translate</a:t>
            </a:r>
            <a:endParaRPr lang="en-in" sz="1800" cap="none"/>
          </a:p>
        </p:txBody>
      </p:sp>
      <p:pic>
        <p:nvPicPr>
          <p:cNvPr id="7" name="Picture 7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BAAAAAAAAAP///wAsAQAAAQAAACMAAAAjAAAAIwAAAB4AAAAAAAAAZAAAAGQAAAAAAAAAZAAAAGQAAAAVAAAAYAAAAAEAAAAAAAAAFAAAAAAAAAB8/P//VPL//wEAAADgVAAAAAAAAAAAAAABAAAA7u7uAAAAAABkAAAAAAAAAA8AAABD4f//AAAAAB4AAAAAAAAAvR4AAAAAAAAeAAAAZAAAABYAAABMAAAAAQAAAAAAAAAAAAAAAAAAAAEAAAAAAAAAQwAAAOz////9////ZAAAAGQAAAAAAAAAy8vLAEMAAADs/////f///2QAAABkAAAAAAAAAAcAAAA4AAAAAAAAAAAAAAAAAAAA////AAAAAAAAAAAAAAAAAAAAAAAAAAAAAAAAAAAAAABkAAAAZAAAAAAAAAAjAAAABAAAAGQAAAAXAAAAFAAAAAAAAAAAAAAA/38AAP9/AAAAAAAACQAAAAQAAAAAAAAAHgAAAGgAAAAAAAAAAAAAAAAAAAAAAAAAAAAAABAnAAAQJwAAAAAAAAAAAAAAAAAAAAAAAAAAAAAAAAAAAAAAAAAAAAA5AAAAAAAAAMDA/wAAAAAAAAAAAAAAAAAAAAAAZAAAAAAAAAB/f38ACgAAACIAAAAYAAAAAgAAAGQAAABQAAAAAAAAAAAAAAAAAAAAJAAAACQAAAABAAAABAAAAAAAAAAUAAAAAQAAAMDAwAAAAAAAAAAAAH9/fwAlAAAAWAAAAAEAAAAAAAAAAAAAAAAAAAAAAAAAAAAAAAAAAAAAAAAAAAAAAAAAAAAAAAAANgAAAOAyKQCghgEAYD0IACALIAAAAAAADgAAAAEAAAAAAAAAAAAAAAAAAAAfAAAAVAAAAO7u7gD///8BAAAAAAAAAAAAAAAAAAAAAAAAAAAAAAAAAAAAAAAAAAD///8A7u7uAAAAAADLy8sAwMD/AH9/fwAAAAAAAAAAAAAAAAD///8AAAAAACEAAAAYAAAAFAAAAAAAAAAGGwAAoRoAAAcp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92930"/>
            <a:ext cx="4328795" cy="2276475"/>
          </a:xfrm>
          <a:prstGeom prst="rect">
            <a:avLst/>
          </a:prstGeom>
          <a:solidFill>
            <a:srgbClr val="EEEEEE"/>
          </a:solidFill>
          <a:ln w="190500" cap="flat" cmpd="sng" algn="ctr">
            <a:solidFill>
              <a:srgbClr val="FFFFFF"/>
            </a:solidFill>
            <a:prstDash val="solid"/>
            <a:headEnd type="none"/>
            <a:tailEnd type="none"/>
          </a:ln>
          <a:effectLst>
            <a:outerShdw blurRad="36195" dist="12842" dir="11311846" algn="tl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 prst="circle"/>
            <a:contourClr>
              <a:srgbClr val="C0C0C0"/>
            </a:contourClr>
          </a:sp3d>
        </p:spPr>
      </p:pic>
      <p:sp>
        <p:nvSpPr>
          <p:cNvPr id="8" name="TextBox 8"/>
          <p:cNvSpPr>
            <a:extLst>
              <a:ext uri="smNativeData">
                <pr:smNativeData xmlns:pr="smNativeData" xmlns="smNativeData" val="SMDATA_15_FM5s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H0l9A8zMzADAwP8Af39/AAAAAAAAAAAAAAAAAAAAAAAAAAAAIQAAABgAAAAUAAAAngYAABQoAACEDgAA+SkAABAgAAAmAAAACAAAAP//////////"/>
              </a:ext>
            </a:extLst>
          </p:cNvSpPr>
          <p:nvPr/>
        </p:nvSpPr>
        <p:spPr>
          <a:xfrm>
            <a:off x="1075690" y="6515100"/>
            <a:ext cx="1283970" cy="307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us" cap="none"/>
              <a:t>Alexa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Iytp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cap="none"/>
            </a:pPr>
            <a:r>
              <a:rPr lang="en-us" cap="none"/>
              <a:t>Google maps</a:t>
            </a:r>
            <a:endParaRPr lang="en-in" cap="none"/>
          </a:p>
        </p:txBody>
      </p:sp>
      <p:pic>
        <p:nvPicPr>
          <p:cNvPr id="3" name="Picture 4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EAAAAAAAAAAAAAAAAAAAAM/v//uAsAAAEAAADgVAAAAAAAAAAAAAABAAAAAAAAAAAAAABkAAAAAAAAABQAAAAAAAAAAAAAACYAAAAAAAAAwgAAAAAAAAAmAAAAZAAAABYAAABMAAAAAAAAAAAAAAAEAAAAAAAAAAEAAAAfSX0KAAAAACgAAAAoAAAAZAAAAGQAAAAAAAAAzMzMAAAAAABQAAAAUAAAAGQAAABkAAAAAAAAAAcAAAA4AAAAAAAAAAAAAAAAAAAA////AAAAAAAAAAAAAAAAAAAAAAAAAAAAAAAAAAAAAABkAAAAZAAAAAAAAAAjAAAABAAAAGQAAAAXAAAAFAAAAAAAAAAAAAAA/38AAP9/AAAAAAAACQAAAAQAAAAcKgAAHgAAAGgAAAAAAAAAAAAAAAAAAAAAAAAAAAAAABAnAAAQJwAAAAAAAAAAAAAAAAAAAAAAAAAAAAAAAAAAAAAAAAAAAAAUAAAAAAAAAMDA/wABAAAAHgAAAEYAAAAIAAAAZAAAAAAAAAB/f38ACgAAACIAAAAYAAAAAgAAAGQAAABQAAAAAAAAAAAAAAAAAAAAJAAAACQAAAAAAAAABwAAAAAAAAAAAAAAAAAAAAAAAAAAAAAAAAAAAH9/fwAlAAAAWAAAAAEAAAAAAAAAAAAAAAAAAAAAAAAAAAAAAAAAAAAAAAAAAAAAAAAAAAAAAAAANgAAAOAyKQCghgEA4JMEAMAfLgEAAAAADAAAAAEAAAAAAAAAAAAAAOAyKQAfAAAAVAAAAE+BvQX///8BAAAAAAAAAAAAAAAAAAAAAAAAAAAAAAAAAAAAAAAAAAAAAAACAAAAAB9JfQPMzMwAwMD/AH9/fwAAAAAAAAAAAAAAAAD///8AAAAAACEAAAAYAAAAFAAAAFYEAAAsCQAAbCYAAH4g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490980"/>
            <a:ext cx="5541010" cy="3790950"/>
          </a:xfrm>
          <a:prstGeom prst="rect">
            <a:avLst/>
          </a:prstGeom>
          <a:noFill/>
          <a:ln>
            <a:noFill/>
          </a:ln>
          <a:effectLst>
            <a:reflection stA="30000" endPos="30000" dist="5080" dir="5400000" sy="-100000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 prstMaterial="warmMatte">
            <a:bevelT w="63500" h="50800" prst="circle"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IA2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ZAAAALEBAACmKAAAmwYAABAAAAAmAAAACAAAAAEAAAAAAAAA"/>
              </a:ext>
            </a:extLst>
          </p:cNvSpPr>
          <p:nvPr>
            <p:ph type="title"/>
          </p:nvPr>
        </p:nvSpPr>
        <p:spPr>
          <a:xfrm>
            <a:off x="63500" y="274955"/>
            <a:ext cx="6544310" cy="798830"/>
          </a:xfrm>
        </p:spPr>
        <p:txBody>
          <a:bodyPr/>
          <a:lstStyle/>
          <a:p>
            <a:pPr algn="ctr">
              <a:defRPr b="1" cap="none">
                <a:solidFill>
                  <a:schemeClr val="bg2"/>
                </a:solidFill>
              </a:defRPr>
            </a:pPr>
            <a:r>
              <a:rPr lang="en-us" sz="3200" cap="none"/>
              <a:t>Definition of Artificial intelligence </a:t>
            </a:r>
            <a:endParaRPr lang="en-in" sz="3200" cap="none"/>
          </a:p>
        </p:txBody>
      </p:sp>
      <p:pic>
        <p:nvPicPr>
          <p:cNvPr id="3" name="Picture 3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LQBAAAIEwAAzTYAANMa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3093720"/>
            <a:ext cx="8631555" cy="12668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4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LQBAACzCAAAzTYAANYS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1414145"/>
            <a:ext cx="8631555" cy="16478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6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LQBAAA3GwAAzTYAACwo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276860" y="4424045"/>
            <a:ext cx="8631555" cy="21062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 cap="none">
                <a:solidFill>
                  <a:schemeClr val="bg2"/>
                </a:solidFill>
              </a:defRPr>
            </a:pPr>
            <a:r>
              <a:rPr lang="en-us" cap="none"/>
              <a:t>What is artificial intelligence?</a:t>
            </a:r>
            <a:endParaRPr lang="en-in" cap="none"/>
          </a:p>
        </p:txBody>
      </p:sp>
      <p:sp>
        <p:nvSpPr>
          <p:cNvPr id="3" name="TextBox 3"/>
          <p:cNvSpPr>
            <a:extLst>
              <a:ext uri="smNativeData">
                <pr:smNativeData xmlns:pr="smNativeData" xmlns="smNativeData" val="SMDATA_15_FM5s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NZIL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H0l9A8zMzADAwP8Af39/AAAAAAAAAAAAAAAAAAAAAAAAAAAAIQAAABgAAAAUAAAAggEAAKgJAABzNQAAOBwAABAgAAAmAAAACAAAAP//////////"/>
              </a:ext>
            </a:extLst>
          </p:cNvSpPr>
          <p:nvPr/>
        </p:nvSpPr>
        <p:spPr>
          <a:xfrm>
            <a:off x="245110" y="1569720"/>
            <a:ext cx="8443595" cy="3017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457200" indent="-457200">
              <a:buFont typeface="Arial" pitchFamily="1" charset="0"/>
              <a:buChar char="•"/>
              <a:defRPr sz="2400" cap="none"/>
            </a:pPr>
            <a:r>
              <a:rPr lang="en-us" cap="none"/>
              <a:t>Intelligence:</a:t>
            </a:r>
            <a:endParaRPr lang="en-us" cap="none"/>
          </a:p>
          <a:p>
            <a:pPr>
              <a:defRPr sz="2400" cap="none"/>
            </a:pPr>
            <a:r>
              <a:rPr lang="en-us" cap="none"/>
              <a:t>         Capacity to learn and solve problems</a:t>
            </a:r>
            <a:endParaRPr lang="en-us" cap="none"/>
          </a:p>
          <a:p>
            <a:pPr marL="457200" indent="-457200">
              <a:buFont typeface="Arial" pitchFamily="1" charset="0"/>
              <a:buChar char="•"/>
              <a:defRPr sz="2400" cap="none"/>
            </a:pPr>
            <a:r>
              <a:rPr lang="en-us" cap="none"/>
              <a:t>Artificial intelligence: AI is the simulation of human intelligence by machines</a:t>
            </a:r>
            <a:endParaRPr lang="en-us" cap="none"/>
          </a:p>
          <a:p>
            <a:pPr lvl="6">
              <a:buChar char="–"/>
              <a:defRPr sz="2400" cap="none"/>
            </a:pPr>
            <a:r>
              <a:rPr lang="en-us" cap="none"/>
              <a:t>     The ability to solve problems </a:t>
            </a:r>
            <a:endParaRPr lang="en-us" cap="none"/>
          </a:p>
          <a:p>
            <a:pPr lvl="6">
              <a:buChar char="–"/>
              <a:defRPr sz="2400" cap="none"/>
            </a:pPr>
            <a:r>
              <a:rPr lang="en-us" cap="none"/>
              <a:t>     The ability to act rationally</a:t>
            </a:r>
            <a:endParaRPr lang="en-us" cap="none"/>
          </a:p>
          <a:p>
            <a:pPr lvl="6">
              <a:buChar char="–"/>
              <a:defRPr sz="2400" cap="none"/>
            </a:pPr>
            <a:r>
              <a:rPr lang="en-us" cap="none"/>
              <a:t>     The ability to act like humans</a:t>
            </a:r>
            <a:endParaRPr lang="en-us" cap="none"/>
          </a:p>
          <a:p>
            <a:pPr>
              <a:defRPr sz="2400" cap="none"/>
            </a:pP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b="1" cap="none">
                <a:solidFill>
                  <a:schemeClr val="bg2"/>
                </a:solidFill>
              </a:defRPr>
            </a:pPr>
            <a:r>
              <a:rPr lang="en-us" sz="3200" cap="none"/>
              <a:t>History of Artificial intelligence</a:t>
            </a:r>
            <a:endParaRPr lang="en-in" sz="3200" cap="none"/>
          </a:p>
        </p:txBody>
      </p:sp>
      <p:pic>
        <p:nvPicPr>
          <p:cNvPr id="3" name="Picture 4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GwCAABuCAAArjIAACYo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370330"/>
            <a:ext cx="7844790" cy="5156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0;g5aec7bfc83_0_22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 cap="none"/>
            </a:pPr>
            <a:r>
              <a:rPr lang="en-in" cap="none">
                <a:solidFill>
                  <a:srgbClr val="C00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Different perspectives of AI</a:t>
            </a:r>
            <a:endParaRPr cap="none">
              <a:latin typeface="Calibri" pitchFamily="2" charset="0"/>
              <a:ea typeface="Arial" pitchFamily="1" charset="0"/>
              <a:cs typeface="Calibri" pitchFamily="2" charset="0"/>
            </a:endParaRPr>
          </a:p>
        </p:txBody>
      </p:sp>
      <p:pic>
        <p:nvPicPr>
          <p:cNvPr id="3" name="Google Shape;321;g5aec7bfc83_0_22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Cqqqqq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AUCAAC4CAAAPTcAANAm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28295" y="1417320"/>
            <a:ext cx="8651240" cy="48920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xkP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OkAAAAtKAAAMAcAABAAAAAmAAAACAAAAAEAAAAAAAAA"/>
              </a:ext>
            </a:extLst>
          </p:cNvSpPr>
          <p:nvPr>
            <p:ph type="title"/>
          </p:nvPr>
        </p:nvSpPr>
        <p:spPr>
          <a:xfrm>
            <a:off x="395605" y="147955"/>
            <a:ext cx="6135370" cy="1020445"/>
          </a:xfrm>
        </p:spPr>
        <p:txBody>
          <a:bodyPr/>
          <a:lstStyle/>
          <a:p>
            <a:pPr algn="ctr"/>
            <a:r>
              <a:rPr lang="en-us" sz="3200" b="1" cap="none">
                <a:solidFill>
                  <a:schemeClr val="tx1"/>
                </a:solidFill>
              </a:rPr>
              <a:t>Acting humanly</a:t>
            </a:r>
            <a:endParaRPr lang="en-us" sz="3200" b="1" cap="none">
              <a:solidFill>
                <a:schemeClr val="tx1"/>
              </a:solidFill>
            </a:endParaRPr>
          </a:p>
          <a:p>
            <a:pPr algn="ctr"/>
            <a:r>
              <a:rPr lang="en-us" sz="3200" b="1" cap="none">
                <a:solidFill>
                  <a:schemeClr val="tx1"/>
                </a:solidFill>
              </a:rPr>
              <a:t>[Turing test approach]</a:t>
            </a:r>
            <a:endParaRPr lang="en-in" sz="3200" cap="none"/>
          </a:p>
        </p:txBody>
      </p:sp>
      <p:sp>
        <p:nvSpPr>
          <p:cNvPr id="3" name="Rectangle 5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H0l9A8zMzADAwP8Af39/AAAAAAAAAAAAAAAAAAAAAAAAAAAAIQAAABgAAAAUAAAA6AQAAH4hAADLLwAATiYAABAAAAAmAAAACAAAAP//////////"/>
              </a:ext>
            </a:extLst>
          </p:cNvSpPr>
          <p:nvPr/>
        </p:nvSpPr>
        <p:spPr>
          <a:xfrm>
            <a:off x="797560" y="5444490"/>
            <a:ext cx="6971665" cy="782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sz="1800" cap="none"/>
            </a:pPr>
            <a:r>
              <a:rPr lang="en-us" cap="none"/>
              <a:t>Pictorial Representation of Turing Test from https://en.wikipedia.org/wiki/Turing_test</a:t>
            </a:r>
            <a:endParaRPr lang="en-us" cap="none"/>
          </a:p>
        </p:txBody>
      </p:sp>
      <p:pic>
        <p:nvPicPr>
          <p:cNvPr id="4" name="Picture 6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BUFAADzCgAADjAAANo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26135" y="1779905"/>
            <a:ext cx="6985635" cy="339788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8;g5aec7bfc83_0_36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Acting Humanly</a:t>
            </a:r>
            <a:endParaRPr sz="24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Turing Test Approach</a:t>
            </a:r>
            <a:r>
              <a:rPr lang="en-in" sz="24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 </a:t>
            </a:r>
            <a:endParaRPr sz="24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sp>
        <p:nvSpPr>
          <p:cNvPr id="3" name="Google Shape;249;g5aec7bfc83_0_36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OUIAADlMQAApQwAABAAAAAmAAAACAAAAP//////////"/>
              </a:ext>
            </a:extLst>
          </p:cNvSpPr>
          <p:nvPr/>
        </p:nvSpPr>
        <p:spPr>
          <a:xfrm>
            <a:off x="304800" y="1445895"/>
            <a:ext cx="780605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6385" marR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400" cap="none"/>
              <a:t>Skills necessary to pass these tests </a:t>
            </a:r>
            <a:endParaRPr sz="1800" cap="none"/>
          </a:p>
        </p:txBody>
      </p:sp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N4BAABmDQAAMjUAAH4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03530" y="2178050"/>
            <a:ext cx="8343900" cy="42418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7;g5aec7bfc83_0_77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Bk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PQMAABEKAAAzNwAA6CUAABAAAAAmAAAACAAAAP//////////"/>
              </a:ext>
            </a:extLst>
          </p:cNvSpPr>
          <p:nvPr/>
        </p:nvSpPr>
        <p:spPr>
          <a:xfrm>
            <a:off x="526415" y="1636395"/>
            <a:ext cx="8446770" cy="4525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/>
              <a:t>Some Definitions  of AI: </a:t>
            </a:r>
            <a:endParaRPr sz="2400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i="1" cap="none">
                <a:solidFill>
                  <a:srgbClr val="1C4587"/>
                </a:solidFill>
              </a:rPr>
              <a:t> </a:t>
            </a:r>
            <a:endParaRPr sz="2400" i="1" cap="none">
              <a:solidFill>
                <a:srgbClr val="1C4587"/>
              </a:solidFill>
            </a:endParaRPr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i="1" cap="none">
                <a:solidFill>
                  <a:srgbClr val="1C4587"/>
                </a:solidFill>
              </a:rPr>
              <a:t>“The art of creating machines that perform functions that require intelligence when performed by people.” (Kurzweil, 1990) </a:t>
            </a:r>
            <a:endParaRPr sz="2400" i="1" cap="none">
              <a:solidFill>
                <a:srgbClr val="1C4587"/>
              </a:solidFill>
            </a:endParaRPr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2400" i="1" cap="none">
              <a:solidFill>
                <a:srgbClr val="1C4587"/>
              </a:solidFill>
            </a:endParaRPr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i="1" cap="none">
                <a:solidFill>
                  <a:srgbClr val="1C4587"/>
                </a:solidFill>
              </a:rPr>
              <a:t>“The study of how to make computers do things at which, at the moment, people are better.” (Rich and Knight, 1991)</a:t>
            </a:r>
            <a:endParaRPr sz="2400" i="1" cap="none">
              <a:solidFill>
                <a:srgbClr val="1C4587"/>
              </a:solidFill>
            </a:endParaRPr>
          </a:p>
        </p:txBody>
      </p:sp>
      <p:sp>
        <p:nvSpPr>
          <p:cNvPr id="3" name="Google Shape;258;g5aec7bfc83_0_77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</a:rPr>
              <a:t>Acting Humanly</a:t>
            </a:r>
            <a:endParaRPr sz="24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Turing Test Approach </a:t>
            </a:r>
            <a:endParaRPr sz="18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4;g5aec7bfc83_0_48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YwIAAPAAAABKKQAA9wcAABAAAAAmAAAACAAAAP//////////"/>
              </a:ext>
            </a:extLst>
          </p:cNvSpPr>
          <p:nvPr/>
        </p:nvSpPr>
        <p:spPr>
          <a:xfrm>
            <a:off x="387985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</a:rPr>
              <a:t>Thinking Humanly </a:t>
            </a:r>
            <a:endParaRPr sz="24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Cognitive Modelling Approach </a:t>
            </a:r>
            <a:endParaRPr sz="2000" b="1" cap="none">
              <a:solidFill>
                <a:srgbClr val="7F6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sp>
        <p:nvSpPr>
          <p:cNvPr id="3" name="Google Shape;265;g5aec7bfc83_0_48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sBN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NgJAABwNQAAryUAABAAAAAmAAAACAAAAP//////////"/>
              </a:ext>
            </a:extLst>
          </p:cNvSpPr>
          <p:nvPr/>
        </p:nvSpPr>
        <p:spPr>
          <a:xfrm>
            <a:off x="457200" y="1600200"/>
            <a:ext cx="8229600" cy="4525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3429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How do we capture human thinking to implement?</a:t>
            </a:r>
            <a:endParaRPr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r>
              <a:rPr lang="en-in" sz="2000" cap="none"/>
              <a:t>Introspection</a:t>
            </a:r>
            <a:endParaRPr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r>
              <a:rPr lang="en-in" sz="2000" cap="none"/>
              <a:t>Psychological Experiments</a:t>
            </a:r>
            <a:endParaRPr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r>
              <a:rPr lang="en-in" sz="2000" cap="none"/>
              <a:t>Brain Imaging</a:t>
            </a:r>
            <a:endParaRPr lang="en-in"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endParaRPr sz="2000" cap="none"/>
          </a:p>
          <a:p>
            <a:pPr marL="457200" marR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Calibri" pitchFamily="2" charset="0"/>
              <a:buChar char="•"/>
            </a:pPr>
            <a:r>
              <a:rPr lang="en-in" sz="2000" cap="none"/>
              <a:t>System : </a:t>
            </a:r>
            <a:r>
              <a:rPr lang="en-in" sz="2000" i="1" cap="none">
                <a:solidFill>
                  <a:srgbClr val="1C4587"/>
                </a:solidFill>
              </a:rPr>
              <a:t>“General Problem Solver”</a:t>
            </a:r>
            <a:r>
              <a:rPr lang="en-in" sz="2000" cap="none"/>
              <a:t> (</a:t>
            </a:r>
            <a:r>
              <a:rPr lang="en-in" sz="2000" i="1" cap="none">
                <a:solidFill>
                  <a:srgbClr val="741B47"/>
                </a:solidFill>
              </a:rPr>
              <a:t>Newell and Simon, 1961</a:t>
            </a:r>
            <a:r>
              <a:rPr lang="en-in" sz="2000" cap="none"/>
              <a:t>)</a:t>
            </a:r>
            <a:endParaRPr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r>
              <a:rPr lang="en-in" sz="2000" cap="none"/>
              <a:t>Designed to work as a universal problem solver</a:t>
            </a:r>
            <a:endParaRPr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r>
              <a:rPr lang="en-in" sz="2000" cap="none"/>
              <a:t>Problems represented by horn clauses</a:t>
            </a:r>
            <a:endParaRPr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r>
              <a:rPr lang="en-in" sz="2000" cap="none"/>
              <a:t>First AI Machine which has KB + Inference separation</a:t>
            </a:r>
            <a:endParaRPr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r>
              <a:rPr lang="en-in" sz="2000" cap="none"/>
              <a:t>Authors focus on this is on comparing the trace of its reasoning steps to traces of human subjects solving the same problems</a:t>
            </a:r>
            <a:endParaRPr lang="en-in" sz="2000" cap="none"/>
          </a:p>
          <a:p>
            <a:pPr lvl="1" marL="914400" marR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200"/>
              <a:buFont typeface="Calibri" pitchFamily="2" charset="0"/>
              <a:buChar char="○"/>
            </a:pPr>
            <a:endParaRPr sz="2000" cap="none"/>
          </a:p>
          <a:p>
            <a:pPr marL="457200" marR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 typeface="Calibri" pitchFamily="2" charset="0"/>
              <a:buChar char="•"/>
            </a:pPr>
            <a:r>
              <a:rPr lang="en-in" sz="2000" cap="none"/>
              <a:t>Growth of Cognitive science and AI supports each other</a:t>
            </a:r>
            <a:endParaRPr sz="20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1;g5aec7bfc83_0_129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</a:rPr>
              <a:t>Thinking Humanly </a:t>
            </a:r>
            <a:endParaRPr sz="24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Cognitive Modelling Approach</a:t>
            </a:r>
            <a:r>
              <a:rPr lang="en-in" sz="24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 </a:t>
            </a:r>
            <a:endParaRPr sz="2400" b="1" cap="none">
              <a:solidFill>
                <a:srgbClr val="7F6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sp>
        <p:nvSpPr>
          <p:cNvPr id="3" name="Google Shape;272;g5aec7bfc83_0_129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NgJAABwNQAAryUAABAAAAAmAAAACAAAAP//////////"/>
              </a:ext>
            </a:extLst>
          </p:cNvSpPr>
          <p:nvPr/>
        </p:nvSpPr>
        <p:spPr>
          <a:xfrm>
            <a:off x="457200" y="1600200"/>
            <a:ext cx="8229600" cy="4525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76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400" cap="none">
                <a:latin typeface="Calibri" pitchFamily="2" charset="0"/>
                <a:ea typeface="Calibri" pitchFamily="2" charset="0"/>
                <a:cs typeface="Calibri" pitchFamily="2" charset="0"/>
              </a:rPr>
              <a:t>Some Definitions of AI:</a:t>
            </a:r>
            <a:endParaRPr sz="24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i="1" cap="none">
                <a:solidFill>
                  <a:srgbClr val="0B5394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“The exciting new effort to make computers think . . . machines with minds, in the full and literal sense.” (Haugeland, 1985)</a:t>
            </a:r>
            <a:endParaRPr sz="2400" i="1" cap="none">
              <a:solidFill>
                <a:srgbClr val="0B5394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1" cap="none">
              <a:solidFill>
                <a:srgbClr val="0B5394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1" cap="none">
              <a:solidFill>
                <a:srgbClr val="0B5394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i="1" cap="none">
                <a:solidFill>
                  <a:srgbClr val="0B5394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“[</a:t>
            </a:r>
            <a:r>
              <a:rPr lang="en-in" sz="2400" i="1" cap="none">
                <a:solidFill>
                  <a:srgbClr val="99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The automation of</a:t>
            </a:r>
            <a:r>
              <a:rPr lang="en-in" sz="2400" i="1" cap="none">
                <a:solidFill>
                  <a:srgbClr val="0B5394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] activities that we associate with human thinking, activities such as decision-making, problem solving, learning . . .” (Bellman, 1978)</a:t>
            </a:r>
            <a:endParaRPr sz="2400" i="1" cap="none">
              <a:solidFill>
                <a:srgbClr val="0B5394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9;g5aec7bfc83_0_155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OgIAABwNQAAmicAABAAAAAmAAAACAAAAP//////////"/>
              </a:ext>
            </a:extLst>
          </p:cNvSpPr>
          <p:nvPr/>
        </p:nvSpPr>
        <p:spPr>
          <a:xfrm>
            <a:off x="457200" y="1447800"/>
            <a:ext cx="8229600" cy="49898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Invention of Formal Logic, Greek Philosopher </a:t>
            </a:r>
            <a:r>
              <a:rPr lang="en-in" sz="2000" b="1" cap="none"/>
              <a:t>Aristotle</a:t>
            </a:r>
            <a:r>
              <a:rPr lang="en-in" sz="2000" cap="none"/>
              <a:t>, Third century BC.  </a:t>
            </a:r>
            <a:endParaRPr sz="2000" cap="none"/>
          </a:p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Introduced syllogisms, providing argument structures</a:t>
            </a:r>
            <a:endParaRPr sz="20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i="1" cap="none">
                <a:solidFill>
                  <a:srgbClr val="073763"/>
                </a:solidFill>
              </a:rPr>
              <a:t>In all boring classes, students sleep</a:t>
            </a:r>
            <a:endParaRPr sz="20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1800" cap="none"/>
          </a:p>
        </p:txBody>
      </p:sp>
      <p:sp>
        <p:nvSpPr>
          <p:cNvPr id="3" name="Google Shape;300;g5aec7bfc83_0_155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</a:rPr>
              <a:t>Thinking Rationally</a:t>
            </a:r>
            <a:endParaRPr sz="24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“Laws of Thought” Approach</a:t>
            </a:r>
            <a:endParaRPr sz="18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9;g5aec7bfc83_0_155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1EI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OgIAABwNQAAmicAABAAAAAmAAAACAAAAP//////////"/>
              </a:ext>
            </a:extLst>
          </p:cNvSpPr>
          <p:nvPr/>
        </p:nvSpPr>
        <p:spPr>
          <a:xfrm>
            <a:off x="457200" y="1447800"/>
            <a:ext cx="8229600" cy="49898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Invention of Formal Logic, Greek Philosopher </a:t>
            </a:r>
            <a:r>
              <a:rPr lang="en-in" sz="2000" b="1" cap="none"/>
              <a:t>Aristotle</a:t>
            </a:r>
            <a:r>
              <a:rPr lang="en-in" sz="2000" cap="none"/>
              <a:t>, Third century BC.  </a:t>
            </a:r>
            <a:endParaRPr sz="2000" cap="none"/>
          </a:p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Introduced syllogisms, providing argument structures</a:t>
            </a:r>
            <a:endParaRPr sz="20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i="1" cap="none">
                <a:solidFill>
                  <a:srgbClr val="073763"/>
                </a:solidFill>
              </a:rPr>
              <a:t>In all boring classes, students sleep</a:t>
            </a:r>
            <a:endParaRPr sz="20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i="1" cap="none">
                <a:solidFill>
                  <a:srgbClr val="073763"/>
                </a:solidFill>
              </a:rPr>
              <a:t>It is a boring class</a:t>
            </a:r>
            <a:endParaRPr sz="20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 cap="none">
              <a:solidFill>
                <a:srgbClr val="073763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1800" cap="none"/>
          </a:p>
        </p:txBody>
      </p:sp>
      <p:sp>
        <p:nvSpPr>
          <p:cNvPr id="3" name="Google Shape;300;g5aec7bfc83_0_155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sYKx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WQQAAAYBAABAKwAADQgAABAAAAAmAAAACAAAAP//////////"/>
              </a:ext>
            </a:extLst>
          </p:cNvSpPr>
          <p:nvPr/>
        </p:nvSpPr>
        <p:spPr>
          <a:xfrm>
            <a:off x="706755" y="16637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</a:rPr>
              <a:t>Thinking Rationally</a:t>
            </a:r>
            <a:endParaRPr sz="24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“Laws of Thought” Approach</a:t>
            </a:r>
            <a:endParaRPr sz="18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9;g5aec7bfc83_0_155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OgIAABwNQAAmicAABAAAAAmAAAACAAAAP//////////"/>
              </a:ext>
            </a:extLst>
          </p:cNvSpPr>
          <p:nvPr/>
        </p:nvSpPr>
        <p:spPr>
          <a:xfrm>
            <a:off x="457200" y="1447800"/>
            <a:ext cx="8229600" cy="49898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Invention of Formal Logic, Greek Philosopher </a:t>
            </a:r>
            <a:r>
              <a:rPr lang="en-in" sz="2000" b="1" cap="none"/>
              <a:t>Aristotle</a:t>
            </a:r>
            <a:r>
              <a:rPr lang="en-in" sz="2000" cap="none"/>
              <a:t>, Third century BC.  </a:t>
            </a:r>
            <a:endParaRPr sz="2000" cap="none"/>
          </a:p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Introduced syllogisms, providing argument structures</a:t>
            </a:r>
            <a:endParaRPr sz="20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i="1" cap="none">
                <a:solidFill>
                  <a:srgbClr val="073763"/>
                </a:solidFill>
              </a:rPr>
              <a:t>In all boring classes, students sleep</a:t>
            </a:r>
            <a:endParaRPr sz="20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i="1" cap="none">
                <a:solidFill>
                  <a:srgbClr val="073763"/>
                </a:solidFill>
              </a:rPr>
              <a:t>It is a boring class</a:t>
            </a:r>
            <a:endParaRPr sz="20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i="1" cap="none">
                <a:solidFill>
                  <a:srgbClr val="073763"/>
                </a:solidFill>
              </a:rPr>
              <a:t>Students sleep in this class [ Are you ? ] </a:t>
            </a:r>
            <a:endParaRPr sz="20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1800" cap="none"/>
          </a:p>
        </p:txBody>
      </p:sp>
      <p:sp>
        <p:nvSpPr>
          <p:cNvPr id="3" name="Google Shape;300;g5aec7bfc83_0_155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cap="none">
                <a:solidFill>
                  <a:srgbClr val="C00000"/>
                </a:solidFill>
              </a:rPr>
              <a:t>Thinking Rationally</a:t>
            </a:r>
            <a:endParaRPr sz="20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cap="none">
                <a:solidFill>
                  <a:srgbClr val="7F6000"/>
                </a:solidFill>
              </a:rPr>
              <a:t>“Laws of </a:t>
            </a: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Thought” Approach</a:t>
            </a:r>
            <a:endParaRPr sz="18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9;g5aec7bfc83_0_155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s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1gMAAKcIAAB1NgAAWScAAAAAAAAmAAAACAAAAP//////////"/>
              </a:ext>
            </a:extLst>
          </p:cNvSpPr>
          <p:nvPr/>
        </p:nvSpPr>
        <p:spPr>
          <a:xfrm>
            <a:off x="623570" y="1406525"/>
            <a:ext cx="8228965" cy="49898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1800" cap="none"/>
              <a:t>Invention of Formal Logic, Greek Philosopher </a:t>
            </a:r>
            <a:r>
              <a:rPr lang="en-in" sz="1800" b="1" cap="none"/>
              <a:t>Aristotle</a:t>
            </a:r>
            <a:r>
              <a:rPr lang="en-in" sz="1800" cap="none"/>
              <a:t>, Third century BC.  </a:t>
            </a:r>
            <a:endParaRPr sz="1800" cap="none"/>
          </a:p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1800" cap="none"/>
              <a:t>Introduced syllogisms, providing argument structures</a:t>
            </a:r>
            <a:endParaRPr sz="18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i="1" cap="none">
                <a:solidFill>
                  <a:srgbClr val="073763"/>
                </a:solidFill>
              </a:rPr>
              <a:t>		In all boring classes, students sleep</a:t>
            </a:r>
            <a:endParaRPr sz="18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i="1" cap="none">
                <a:solidFill>
                  <a:srgbClr val="073763"/>
                </a:solidFill>
              </a:rPr>
              <a:t>		It is a boring class</a:t>
            </a:r>
            <a:endParaRPr sz="1800" i="1" cap="none">
              <a:solidFill>
                <a:srgbClr val="073763"/>
              </a:solidFill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i="1" cap="none">
                <a:solidFill>
                  <a:srgbClr val="073763"/>
                </a:solidFill>
              </a:rPr>
              <a:t>		Students sleep in this class [ Are you ? ] </a:t>
            </a:r>
            <a:endParaRPr sz="1800" i="1" cap="none">
              <a:solidFill>
                <a:srgbClr val="073763"/>
              </a:solidFill>
            </a:endParaRPr>
          </a:p>
          <a:p>
            <a:pPr marL="286385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1800" cap="none"/>
              <a:t>Field of Logics gave rise to codifying rational thinking</a:t>
            </a:r>
            <a:endParaRPr sz="1800" cap="none"/>
          </a:p>
          <a:p>
            <a:pPr lvl="1" marL="844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itchFamily="1" charset="0"/>
              <a:buChar char="•"/>
            </a:pPr>
            <a:r>
              <a:rPr lang="en-in" sz="1800" cap="none"/>
              <a:t>When elements are ‘</a:t>
            </a:r>
            <a:r>
              <a:rPr lang="en-in" sz="1800" i="1" cap="none">
                <a:solidFill>
                  <a:srgbClr val="990000"/>
                </a:solidFill>
              </a:rPr>
              <a:t>things</a:t>
            </a:r>
            <a:r>
              <a:rPr lang="en-in" sz="1800" cap="none"/>
              <a:t>’, we reason about things</a:t>
            </a:r>
            <a:endParaRPr sz="18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cap="none">
                <a:solidFill>
                  <a:srgbClr val="0B5394"/>
                </a:solidFill>
              </a:rPr>
              <a:t>Hurdles to the idea</a:t>
            </a:r>
            <a:r>
              <a:rPr lang="en-in" sz="1800" cap="none"/>
              <a:t> :	1) Not everything can be logically coded </a:t>
            </a:r>
            <a:endParaRPr lang="en-in" sz="18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cap="none"/>
              <a:t>			2) no provably correct action at a moment</a:t>
            </a:r>
            <a:endParaRPr lang="en-in" sz="18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cap="none"/>
              <a:t>			3) Exhaustive computational resources</a:t>
            </a:r>
            <a:endParaRPr sz="1800" cap="none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 cap="none">
              <a:solidFill>
                <a:srgbClr val="073763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marR="0" indent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1800" cap="none"/>
          </a:p>
        </p:txBody>
      </p:sp>
      <p:sp>
        <p:nvSpPr>
          <p:cNvPr id="3" name="Google Shape;300;g5aec7bfc83_0_155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</a:rPr>
              <a:t>Thinking Rationally</a:t>
            </a:r>
            <a:endParaRPr sz="24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“Laws of Thought” Approach</a:t>
            </a:r>
            <a:endParaRPr sz="18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</a:p>
        </p:txBody>
      </p:sp>
      <p:pic>
        <p:nvPicPr>
          <p:cNvPr id="3" name="Google Shape;321;g5aec7bfc83_0_22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MADAADXCQAA4DIAAL4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99565"/>
            <a:ext cx="7660640" cy="469836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6;g5aec7bfc83_0_174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OgIAABwNQAAmicAABAAAAAmAAAACAAAAP//////////"/>
              </a:ext>
            </a:extLst>
          </p:cNvSpPr>
          <p:nvPr/>
        </p:nvSpPr>
        <p:spPr>
          <a:xfrm>
            <a:off x="457200" y="1447800"/>
            <a:ext cx="8229600" cy="49898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336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An agent is an entity that perceives and acts</a:t>
            </a:r>
            <a:endParaRPr sz="2000" cap="none"/>
          </a:p>
          <a:p>
            <a:pPr marL="508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i="1" cap="none">
                <a:solidFill>
                  <a:srgbClr val="0B5394"/>
                </a:solidFill>
              </a:rPr>
              <a:t>	This course is about designing rational agents</a:t>
            </a:r>
            <a:endParaRPr sz="2000" i="1" cap="none">
              <a:solidFill>
                <a:srgbClr val="0B5394"/>
              </a:solidFill>
            </a:endParaRPr>
          </a:p>
          <a:p>
            <a:pPr marL="336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Abstractly, an agent is a function from percept histories to actions:</a:t>
            </a:r>
            <a:endParaRPr sz="2000" cap="none"/>
          </a:p>
          <a:p>
            <a:pPr marL="13716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cap="none"/>
              <a:t>[f:  </a:t>
            </a:r>
            <a:r>
              <a:rPr lang="en-in" sz="2000" cap="none">
                <a:solidFill>
                  <a:srgbClr val="FF0000"/>
                </a:solidFill>
              </a:rPr>
              <a:t>P*  →  A</a:t>
            </a:r>
            <a:r>
              <a:rPr lang="en-in" sz="2000" cap="none"/>
              <a:t>]</a:t>
            </a:r>
            <a:endParaRPr sz="2000" cap="none"/>
          </a:p>
          <a:p>
            <a:pPr marL="336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For any given class of environments and tasks, we seek the agent (or class of agents) with the best performance</a:t>
            </a:r>
            <a:endParaRPr sz="2000" cap="none"/>
          </a:p>
          <a:p>
            <a:pPr marL="336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Computational limitations make perfect rationality unachievable </a:t>
            </a:r>
            <a:endParaRPr sz="2000" cap="none"/>
          </a:p>
          <a:p>
            <a:pPr marL="336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Design best program for given machine resources</a:t>
            </a:r>
            <a:endParaRPr sz="2000" cap="none"/>
          </a:p>
        </p:txBody>
      </p:sp>
      <p:sp>
        <p:nvSpPr>
          <p:cNvPr id="3" name="Google Shape;307;g5aec7bfc83_0_174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1EI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</a:rPr>
              <a:t>Acting Rationally</a:t>
            </a:r>
            <a:endParaRPr sz="24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The Rational Agent Approach</a:t>
            </a:r>
            <a:endParaRPr sz="18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0;g5aec7bfc83_0_22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s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1AMAAOoBAAB4KAAAwgYAAAAAAAAmAAAACAAAAP//////////"/>
              </a:ext>
            </a:extLst>
          </p:cNvSpPr>
          <p:nvPr/>
        </p:nvSpPr>
        <p:spPr>
          <a:xfrm>
            <a:off x="622300" y="311150"/>
            <a:ext cx="5956300" cy="78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200" cap="none"/>
            </a:pPr>
            <a:r>
              <a:rPr lang="en-in" b="1" cap="none">
                <a:solidFill>
                  <a:srgbClr val="C00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Definitions</a:t>
            </a:r>
            <a:endParaRPr cap="none">
              <a:latin typeface="Calibri" pitchFamily="2" charset="0"/>
              <a:ea typeface="Arial" pitchFamily="1" charset="0"/>
              <a:cs typeface="Calibri" pitchFamily="2" charset="0"/>
            </a:endParaRPr>
          </a:p>
        </p:txBody>
      </p:sp>
      <p:pic>
        <p:nvPicPr>
          <p:cNvPr id="3" name="Picture 1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EoBAADuCAAA/zYAABMm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451610"/>
            <a:ext cx="8730615" cy="473773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7;g5aec7bfc83_0_212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HKAAA9wcAABAAAAAmAAAACAAAAP//////////"/>
              </a:ext>
            </a:extLst>
          </p:cNvSpPr>
          <p:nvPr/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none">
                <a:solidFill>
                  <a:srgbClr val="C00000"/>
                </a:solidFill>
              </a:rPr>
              <a:t>Passing the Turing Test</a:t>
            </a:r>
            <a:endParaRPr sz="2400" b="1" cap="none">
              <a:solidFill>
                <a:srgbClr val="C00000"/>
              </a:solidFill>
            </a:endParaRPr>
          </a:p>
          <a:p>
            <a:pPr marL="0" marR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cap="none">
                <a:solidFill>
                  <a:srgbClr val="7F6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Transcript of a chat</a:t>
            </a:r>
            <a:endParaRPr sz="18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sp>
        <p:nvSpPr>
          <p:cNvPr id="3" name="Google Shape;328;g5aec7bfc83_0_212"/>
          <p:cNvSpPr>
            <a:extLst>
              <a:ext uri="smNativeData">
                <pr:smNativeData xmlns:pr="smNativeData" xmlns="smNativeData" val="SMDATA_15_FM5saRMAAAAlAAAAZAAAAA0AAAAAkAAAAJAAAACQAAAAk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JgNAAAxMwAAnyUAABAAAAAmAAAACAAAAP//////////"/>
              </a:ext>
            </a:extLst>
          </p:cNvSpPr>
          <p:nvPr/>
        </p:nvSpPr>
        <p:spPr>
          <a:xfrm>
            <a:off x="457200" y="2209800"/>
            <a:ext cx="7864475" cy="39058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980000"/>
                </a:solidFill>
              </a:rPr>
              <a:t>JUDGE</a:t>
            </a:r>
            <a:r>
              <a:rPr lang="en-in" sz="1600" cap="none"/>
              <a:t>: Hello.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0000FF"/>
                </a:solidFill>
              </a:rPr>
              <a:t>EUGENE</a:t>
            </a:r>
            <a:r>
              <a:rPr lang="en-in" sz="1600" cap="none"/>
              <a:t>: Hello, I'm really glad to have the chance to chat with you! My guinea pig Bill sends his regards too!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980000"/>
                </a:solidFill>
              </a:rPr>
              <a:t>JUDGE</a:t>
            </a:r>
            <a:r>
              <a:rPr lang="en-in" sz="1600" cap="none"/>
              <a:t>: Is Bill a male or a female?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0000FF"/>
                </a:solidFill>
              </a:rPr>
              <a:t>EUGENE</a:t>
            </a:r>
            <a:r>
              <a:rPr lang="en-in" sz="1600" cap="none"/>
              <a:t>: Ask Bill personally, please.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980000"/>
                </a:solidFill>
              </a:rPr>
              <a:t>JUDGE</a:t>
            </a:r>
            <a:r>
              <a:rPr lang="en-in" sz="1600" cap="none"/>
              <a:t>: Well I'd rather talk to you. What is your name?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0000FF"/>
                </a:solidFill>
              </a:rPr>
              <a:t>EUGENE</a:t>
            </a:r>
            <a:r>
              <a:rPr lang="en-in" sz="1600" cap="none"/>
              <a:t>: Call me Eugene. I am glad to talk to you!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980000"/>
                </a:solidFill>
              </a:rPr>
              <a:t>JUDGE</a:t>
            </a:r>
            <a:r>
              <a:rPr lang="en-in" sz="1600" cap="none"/>
              <a:t>: My name is Jane and I am female. How about you? What's your gender?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0000FF"/>
                </a:solidFill>
              </a:rPr>
              <a:t>EUGENE</a:t>
            </a:r>
            <a:r>
              <a:rPr lang="en-in" sz="1600" cap="none"/>
              <a:t>: I'm a male. A “guy’ I'd say.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980000"/>
                </a:solidFill>
              </a:rPr>
              <a:t>JUDGE</a:t>
            </a:r>
            <a:r>
              <a:rPr lang="en-in" sz="1600" cap="none"/>
              <a:t>: Pleased to meet you Eugene. What's the weather like where you are?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0000FF"/>
                </a:solidFill>
              </a:rPr>
              <a:t>EUGENE</a:t>
            </a:r>
            <a:r>
              <a:rPr lang="en-in" sz="1600" cap="none"/>
              <a:t>: Let's get on with our conversation!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980000"/>
                </a:solidFill>
              </a:rPr>
              <a:t>JUDGE</a:t>
            </a:r>
            <a:r>
              <a:rPr lang="en-in" sz="1600" cap="none"/>
              <a:t>: Don't you like talking about the weather?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0000FF"/>
                </a:solidFill>
              </a:rPr>
              <a:t>EUGENE</a:t>
            </a:r>
            <a:r>
              <a:rPr lang="en-in" sz="1600" cap="none"/>
              <a:t>: All these talks about weather is a waste of time.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980000"/>
                </a:solidFill>
              </a:rPr>
              <a:t>JUDGE</a:t>
            </a:r>
            <a:r>
              <a:rPr lang="en-in" sz="1600" cap="none"/>
              <a:t>: What would you like to discuss?</a:t>
            </a:r>
            <a:endParaRPr sz="1600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cap="none">
                <a:solidFill>
                  <a:srgbClr val="0000FF"/>
                </a:solidFill>
              </a:rPr>
              <a:t>EUGENE</a:t>
            </a:r>
            <a:r>
              <a:rPr lang="en-in" sz="1600" cap="none"/>
              <a:t>: I don't know. Better tell me more about yourself!</a:t>
            </a:r>
            <a:endParaRPr sz="1600" cap="none"/>
          </a:p>
        </p:txBody>
      </p:sp>
      <p:sp>
        <p:nvSpPr>
          <p:cNvPr id="4" name="Google Shape;329;g5aec7bfc83_0_212"/>
          <p:cNvSpPr>
            <a:extLst>
              <a:ext uri="smNativeData">
                <pr:smNativeData xmlns:pr="smNativeData" xmlns="smNativeData" val="SMDATA_15_FM5saRMAAAAlAAAAZAAAAA0AAAAAkAAAAJAAAACQAAAAk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SAMAAHAIAADxLgAAJgsAABAAAAAmAAAACAAAAP//////////"/>
              </a:ext>
            </a:extLst>
          </p:cNvSpPr>
          <p:nvPr/>
        </p:nvSpPr>
        <p:spPr>
          <a:xfrm>
            <a:off x="533400" y="1371600"/>
            <a:ext cx="7097395" cy="4406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cap="none">
                <a:solidFill>
                  <a:srgbClr val="274E13"/>
                </a:solidFill>
              </a:rPr>
              <a:t>EUGINE - a thirteen-year-old Ukrainian boy, chats</a:t>
            </a:r>
            <a:endParaRPr sz="1800" cap="none">
              <a:solidFill>
                <a:srgbClr val="274E1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5;g5aec7bfc83_0_201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C3H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C7JwAAswYAABAAAAAmAAAACAAAAP//////////"/>
              </a:ext>
            </a:extLst>
          </p:cNvSpPr>
          <p:nvPr/>
        </p:nvSpPr>
        <p:spPr>
          <a:xfrm>
            <a:off x="304800" y="152400"/>
            <a:ext cx="6153785" cy="9366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200" cap="none">
                <a:solidFill>
                  <a:schemeClr val="bg2"/>
                </a:solidFill>
              </a:defRPr>
            </a:pPr>
            <a:r>
              <a:rPr lang="en-in" b="1" cap="none">
                <a:latin typeface="Calibri" pitchFamily="2" charset="0"/>
                <a:ea typeface="Comic Sans MS" pitchFamily="1" charset="0"/>
                <a:cs typeface="Calibri" pitchFamily="2" charset="0"/>
              </a:rPr>
              <a:t>Passing the Turing Test</a:t>
            </a:r>
            <a:endParaRPr b="1" cap="none"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sp>
        <p:nvSpPr>
          <p:cNvPr id="3" name="Google Shape;336;g5aec7bfc83_0_201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EwJAABwNQAAeCYAABAAAAAmAAAACAAAAP//////////"/>
              </a:ext>
            </a:extLst>
          </p:cNvSpPr>
          <p:nvPr/>
        </p:nvSpPr>
        <p:spPr>
          <a:xfrm>
            <a:off x="457200" y="1511300"/>
            <a:ext cx="8229600" cy="47421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336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2014 - Royal Society ( London ) - Sixteenth Anniversary of Alan Turing - </a:t>
            </a:r>
            <a:endParaRPr sz="2000" cap="none"/>
          </a:p>
          <a:p>
            <a:pPr marL="336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cap="none"/>
              <a:t>Chabot - Eugene Goostman - Pretended to be a thirteen-year-old Ukrainian boy </a:t>
            </a:r>
            <a:endParaRPr sz="2000" cap="none"/>
          </a:p>
          <a:p>
            <a:pPr lvl="1" marL="8191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 typeface="Arial" pitchFamily="1" charset="0"/>
              <a:buChar char="•"/>
            </a:pPr>
            <a:r>
              <a:rPr lang="en-in" sz="2000" cap="none"/>
              <a:t>Passed the turing test for the first time </a:t>
            </a:r>
            <a:endParaRPr sz="2000" cap="none"/>
          </a:p>
          <a:p>
            <a:pPr lvl="1" marL="8191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 typeface="Arial" pitchFamily="1" charset="0"/>
              <a:buChar char="•"/>
            </a:pPr>
            <a:r>
              <a:rPr lang="en-in" sz="2000" cap="none"/>
              <a:t>10/30 Judges believed the response is from human</a:t>
            </a:r>
            <a:endParaRPr lang="en-in" sz="2000" cap="none"/>
          </a:p>
          <a:p>
            <a:pPr lvl="1" marL="8191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 typeface="Arial" pitchFamily="1" charset="0"/>
              <a:buChar char="•"/>
            </a:pPr>
            <a:endParaRPr sz="2000" cap="none"/>
          </a:p>
          <a:p>
            <a:pPr marL="336550" marR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itchFamily="1" charset="0"/>
              <a:buChar char="•"/>
            </a:pPr>
            <a:r>
              <a:rPr lang="en-in" sz="2000" i="1" cap="none">
                <a:solidFill>
                  <a:srgbClr val="660000"/>
                </a:solidFill>
              </a:rPr>
              <a:t>Turing predicted in 50 years time, computers can be programmed to play imitation game in which an average interrogator fails to identify the machine 70% time in a 5 mins questioning</a:t>
            </a:r>
            <a:endParaRPr sz="2000" i="1" cap="none">
              <a:solidFill>
                <a:srgbClr val="66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12000"/>
              </a:lnSpc>
              <a:defRPr sz="2800" cap="none"/>
            </a:pPr>
            <a:r>
              <a:rPr lang="en-us" b="1" cap="none">
                <a:solidFill>
                  <a:srgbClr val="C00000"/>
                </a:solidFill>
              </a:rPr>
              <a:t>Where is AI Now?</a:t>
            </a:r>
            <a:endParaRPr lang="en-in" b="1" cap="none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NgJAABvNQAAryU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in" sz="2000" cap="none">
                <a:solidFill>
                  <a:srgbClr val="FF0000"/>
                </a:solidFill>
              </a:rPr>
              <a:t>Interesting current AI application in few domains</a:t>
            </a:r>
            <a:endParaRPr lang="en-in" sz="2000" cap="none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OBAK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12000"/>
              </a:lnSpc>
              <a:defRPr sz="2800" cap="none"/>
            </a:pPr>
            <a:r>
              <a:rPr lang="en-in" b="1" cap="none">
                <a:solidFill>
                  <a:srgbClr val="C00000"/>
                </a:solidFill>
              </a:rPr>
              <a:t>AI in Transportation</a:t>
            </a:r>
            <a:endParaRPr lang="en-in" b="1" cap="none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s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QAEAAHoIAADfMwAAUSQAABAAAAAmAAAACAAAAAEAAAAAAAAA"/>
              </a:ext>
            </a:extLst>
          </p:cNvSpPr>
          <p:nvPr>
            <p:ph type="subTitle" idx="1"/>
          </p:nvPr>
        </p:nvSpPr>
        <p:spPr>
          <a:xfrm>
            <a:off x="203200" y="1377950"/>
            <a:ext cx="8228965" cy="4525645"/>
          </a:xfrm>
        </p:spPr>
        <p:txBody>
          <a:bodyPr/>
          <a:lstStyle/>
          <a:p>
            <a:pPr marL="228600" indent="0"/>
            <a:endParaRPr lang="en-us" sz="3200" cap="none"/>
          </a:p>
          <a:p>
            <a:pPr marL="228600" indent="0"/>
            <a:endParaRPr lang="en-us" sz="3200" cap="none"/>
          </a:p>
          <a:p>
            <a:pPr marL="228600" indent="0"/>
            <a:endParaRPr lang="en-us" sz="3200" cap="none"/>
          </a:p>
          <a:p>
            <a:pPr marL="228600" indent="0"/>
            <a:endParaRPr lang="en-us" sz="3200" cap="none"/>
          </a:p>
          <a:p>
            <a:pPr marL="228600" indent="0"/>
            <a:endParaRPr lang="en-us" sz="3200" cap="none"/>
          </a:p>
          <a:p>
            <a:pPr marL="228600" indent="0"/>
            <a:r>
              <a:rPr lang="en-us" sz="3200" cap="none"/>
              <a:t>Self driving car</a:t>
            </a:r>
            <a:endParaRPr lang="en-us" sz="3200" cap="none"/>
          </a:p>
          <a:p>
            <a:pPr marL="228600" indent="0"/>
            <a:r>
              <a:rPr lang="en-us" sz="3200" cap="none"/>
              <a:t>					Traffic management </a:t>
            </a:r>
            <a:endParaRPr lang="en-us" sz="3200" cap="none"/>
          </a:p>
          <a:p>
            <a:pPr marL="228600" indent="0"/>
            <a:endParaRPr lang="en-us" sz="3200" cap="none"/>
          </a:p>
          <a:p>
            <a:pPr marL="228600" indent="0"/>
            <a:endParaRPr lang="en-us" sz="3200" cap="none"/>
          </a:p>
          <a:p>
            <a:pPr marL="228600" indent="0"/>
            <a:endParaRPr lang="en-us" sz="3200" cap="none"/>
          </a:p>
          <a:p>
            <a:pPr marL="228600" indent="0"/>
            <a:r>
              <a:rPr lang="en-us" sz="3200" cap="none"/>
              <a:t>Road condition monitoring</a:t>
            </a:r>
            <a:endParaRPr lang="en-us" sz="3200" cap="none"/>
          </a:p>
          <a:p>
            <a:pPr marL="228600" indent="0"/>
            <a:endParaRPr lang="en-us" sz="3200" cap="none"/>
          </a:p>
          <a:p>
            <a:pPr marL="228600" indent="0"/>
            <a:endParaRPr lang="en-us" sz="3200" cap="none"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DEBAAC9CAAAexgAAPAR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" y="1420495"/>
            <a:ext cx="3785870" cy="14954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JAA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CAcAAC9CAAACTYAAA0V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20495"/>
            <a:ext cx="4211955" cy="20015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5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B8EAAAoFgAAPB0AALkg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3601720"/>
            <a:ext cx="4082415" cy="17176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EAR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12000"/>
              </a:lnSpc>
            </a:pPr>
            <a:r>
              <a:rPr lang="en-in" sz="3200" b="1" cap="none">
                <a:solidFill>
                  <a:srgbClr val="C00000"/>
                </a:solidFill>
              </a:rPr>
              <a:t>AI in Social Media</a:t>
            </a:r>
            <a:endParaRPr lang="en-in" sz="3200" b="1" cap="none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2wAAAE0JAACaMQAAbh0AAAAAAAAmAAAACAAAAAEAAAAAAAAA"/>
              </a:ext>
            </a:extLst>
          </p:cNvSpPr>
          <p:nvPr>
            <p:ph type="subTitle" idx="1"/>
          </p:nvPr>
        </p:nvSpPr>
        <p:spPr>
          <a:xfrm>
            <a:off x="139065" y="1511935"/>
            <a:ext cx="7924165" cy="3272155"/>
          </a:xfrm>
        </p:spPr>
        <p:txBody>
          <a:bodyPr/>
          <a:lstStyle/>
          <a:p>
            <a:pPr marL="228600" indent="0">
              <a:buFont typeface="Wingbats" pitchFamily="0" charset="2"/>
              <a:buBlip>
                <a:blip r:embed="rId2"/>
              </a:buBlip>
            </a:pPr>
            <a:r>
              <a:rPr lang="en-us" sz="3200" cap="none"/>
              <a:t>Facebook </a:t>
            </a:r>
            <a:endParaRPr lang="en-us" sz="3200" cap="none"/>
          </a:p>
          <a:p>
            <a:pPr marL="514350" indent="-285750">
              <a:buFont typeface="Wingbats" pitchFamily="0" charset="2"/>
              <a:buBlip>
                <a:blip r:embed="rId2"/>
              </a:buBlip>
            </a:pPr>
            <a:r>
              <a:rPr lang="en-us" sz="3200" cap="none"/>
              <a:t>Linkedin </a:t>
            </a:r>
            <a:endParaRPr lang="en-us" sz="3200" cap="none"/>
          </a:p>
          <a:p>
            <a:pPr marL="514350" indent="-285750">
              <a:buFont typeface="Wingbats" pitchFamily="0" charset="2"/>
              <a:buBlip>
                <a:blip r:embed="rId2"/>
              </a:buBlip>
            </a:pPr>
            <a:r>
              <a:rPr lang="en-us" sz="3200" cap="none"/>
              <a:t>Snapchat</a:t>
            </a:r>
            <a:endParaRPr lang="en-us" sz="3200" cap="none"/>
          </a:p>
          <a:p>
            <a:pPr marL="514350" indent="-285750">
              <a:buFont typeface="Wingbats" pitchFamily="0" charset="2"/>
              <a:buBlip>
                <a:blip r:embed="rId2"/>
              </a:buBlip>
              <a:defRPr lang="en-in" sz="3200" cap="none"/>
            </a:pPr>
            <a:r>
              <a:t>Youtube</a:t>
            </a:r>
          </a:p>
          <a:p>
            <a:pPr marL="514350" indent="-285750">
              <a:buFont typeface="Wingbats" pitchFamily="0" charset="2"/>
              <a:buBlip>
                <a:blip r:embed="rId2"/>
              </a:buBlip>
              <a:defRPr lang="en-in" sz="3200" cap="none"/>
            </a:pPr>
            <a:r>
              <a:t>Instagram etc..</a:t>
            </a:r>
          </a:p>
        </p:txBody>
      </p:sp>
      <p:pic>
        <p:nvPicPr>
          <p:cNvPr id="4" name="Picture 4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DkVAABcDAAAPzYAAFoh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449955" y="2009140"/>
            <a:ext cx="5368290" cy="341249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12000"/>
              </a:lnSpc>
              <a:defRPr sz="2800" cap="none"/>
            </a:pPr>
            <a:r>
              <a:rPr lang="en-in" b="1" cap="none">
                <a:solidFill>
                  <a:srgbClr val="C00000"/>
                </a:solidFill>
              </a:rPr>
              <a:t>Gaming</a:t>
            </a:r>
            <a:endParaRPr lang="en-in" b="1" cap="none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EAR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NgJAAAMNgAAryUAABAAAAAmAAAACAAAAAEAAAAAAAAA"/>
              </a:ext>
            </a:extLst>
          </p:cNvSpPr>
          <p:nvPr>
            <p:ph type="subTitle" idx="1"/>
          </p:nvPr>
        </p:nvSpPr>
        <p:spPr>
          <a:xfrm>
            <a:off x="457200" y="1600200"/>
            <a:ext cx="8328660" cy="4525645"/>
          </a:xfrm>
        </p:spPr>
        <p:txBody>
          <a:bodyPr/>
          <a:lstStyle/>
          <a:p>
            <a:pPr>
              <a:defRPr sz="2400" cap="none"/>
            </a:pPr>
          </a:p>
          <a:p>
            <a:pPr>
              <a:defRPr lang="en-us" sz="2400" cap="none"/>
            </a:pPr>
          </a:p>
          <a:p>
            <a:pPr>
              <a:defRPr sz="2400" cap="none"/>
            </a:pPr>
          </a:p>
          <a:p>
            <a:pPr>
              <a:defRPr sz="2400" cap="none"/>
            </a:pPr>
          </a:p>
          <a:p>
            <a:pPr>
              <a:defRPr sz="2400" cap="none"/>
            </a:pPr>
          </a:p>
          <a:p>
            <a:pPr>
              <a:defRPr sz="2400" cap="none"/>
            </a:pPr>
          </a:p>
          <a:p>
            <a:pPr>
              <a:defRPr sz="2400" cap="none"/>
            </a:pPr>
            <a:r>
              <a:rPr lang="en-us" cap="none"/>
              <a:t>Alpha go game                               Shooting game</a:t>
            </a:r>
            <a:endParaRPr lang="en-in" cap="none"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PsCAAAhCgAAxR0AAEEb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84505" y="1646555"/>
            <a:ext cx="4354830" cy="27838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EseAAAnCgAA3jUAAD4b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924425" y="1650365"/>
            <a:ext cx="3832225" cy="27781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JDrkS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sz="2800" b="1" cap="none"/>
            </a:pPr>
            <a:r>
              <a:rPr lang="en-us" cap="none"/>
              <a:t>AI in health care</a:t>
            </a:r>
            <a:endParaRPr lang="en-in" cap="none"/>
          </a:p>
        </p:txBody>
      </p:sp>
      <p:pic>
        <p:nvPicPr>
          <p:cNvPr id="3" name="Picture 3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EMCAAAkCQAAWTUAAGk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" y="1485900"/>
            <a:ext cx="8304530" cy="47580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hq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12000"/>
              </a:lnSpc>
            </a:pPr>
            <a:r>
              <a:rPr lang="en-in" sz="3200" b="1" cap="none">
                <a:solidFill>
                  <a:srgbClr val="C00000"/>
                </a:solidFill>
              </a:rPr>
              <a:t>AI in HealthCare</a:t>
            </a:r>
            <a:endParaRPr lang="en-in" sz="3200" b="1" cap="none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AAF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SwIAAC8KAACcMwAAbxoAAAAAAAAmAAAACAAAAAEAAAAAAAAA"/>
              </a:ext>
            </a:extLst>
          </p:cNvSpPr>
          <p:nvPr>
            <p:ph type="subTitle" idx="1"/>
          </p:nvPr>
        </p:nvSpPr>
        <p:spPr>
          <a:xfrm>
            <a:off x="372745" y="1655445"/>
            <a:ext cx="8016875" cy="2641600"/>
          </a:xfrm>
        </p:spPr>
        <p:txBody>
          <a:bodyPr/>
          <a:lstStyle/>
          <a:p>
            <a:pPr marL="514350" indent="-285750">
              <a:buFont typeface="Wingbats" pitchFamily="0" charset="2"/>
              <a:buBlip>
                <a:blip r:embed="rId2"/>
              </a:buBlip>
            </a:pPr>
            <a:r>
              <a:rPr lang="en-us" sz="3200" cap="none"/>
              <a:t>Health monitoring</a:t>
            </a:r>
            <a:endParaRPr lang="en-us" sz="3200" cap="none"/>
          </a:p>
          <a:p>
            <a:pPr marL="514350" indent="-285750">
              <a:buFont typeface="Wingbats" pitchFamily="0" charset="2"/>
              <a:buBlip>
                <a:blip r:embed="rId2"/>
              </a:buBlip>
            </a:pPr>
            <a:r>
              <a:rPr lang="en-us" sz="3200" cap="none"/>
              <a:t>Cancer detection</a:t>
            </a:r>
            <a:endParaRPr lang="en-us" sz="3200" cap="none"/>
          </a:p>
          <a:p>
            <a:pPr marL="514350" indent="-285750">
              <a:buFont typeface="Wingbats" pitchFamily="0" charset="2"/>
              <a:buBlip>
                <a:blip r:embed="rId2"/>
              </a:buBlip>
            </a:pPr>
            <a:r>
              <a:rPr lang="en-us" sz="3200" cap="none"/>
              <a:t>AI robot assisted surgery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w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2000"/>
              </a:lnSpc>
            </a:pPr>
            <a:r>
              <a:rPr lang="en-in" sz="2400" b="1" cap="none">
                <a:solidFill>
                  <a:srgbClr val="C00000"/>
                </a:solidFill>
              </a:rPr>
              <a:t>AI in BFSI ( Banking, Finance , Insurance)</a:t>
            </a:r>
            <a:endParaRPr lang="en-in" sz="2400" b="1" cap="none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PwQAAH0KAAB5KQAA4hoAAAAAAAAmAAAACAAAAAEAAAAAAAAA"/>
              </a:ext>
            </a:extLst>
          </p:cNvSpPr>
          <p:nvPr>
            <p:ph type="subTitle" idx="1"/>
          </p:nvPr>
        </p:nvSpPr>
        <p:spPr>
          <a:xfrm>
            <a:off x="690245" y="1704975"/>
            <a:ext cx="6051550" cy="2665095"/>
          </a:xfrm>
        </p:spPr>
        <p:txBody>
          <a:bodyPr/>
          <a:lstStyle/>
          <a:p>
            <a:pPr marL="514350" indent="-285750">
              <a:buFont typeface="Wingbats" pitchFamily="0" charset="2"/>
              <a:buChar char=""/>
            </a:pPr>
            <a:r>
              <a:rPr lang="en-us" sz="2800" cap="none"/>
              <a:t>Fraud detection</a:t>
            </a:r>
            <a:endParaRPr lang="en-us" sz="2800" cap="none"/>
          </a:p>
          <a:p>
            <a:pPr marL="514350" indent="-285750">
              <a:buFont typeface="Wingbats" pitchFamily="0" charset="2"/>
              <a:buChar char=""/>
            </a:pPr>
            <a:r>
              <a:rPr lang="en-us" sz="2800" cap="none"/>
              <a:t>Chatbots</a:t>
            </a:r>
            <a:endParaRPr lang="en-us" sz="2800" cap="none"/>
          </a:p>
          <a:p>
            <a:pPr marL="514350" indent="-285750">
              <a:buFont typeface="Wingbats" pitchFamily="0" charset="2"/>
              <a:buChar char=""/>
            </a:pPr>
            <a:r>
              <a:rPr lang="en-us" sz="2800" cap="none"/>
              <a:t>Sentiment analysis</a:t>
            </a:r>
            <a:endParaRPr lang="en-us" sz="2800" cap="none"/>
          </a:p>
          <a:p>
            <a:pPr marL="514350" indent="-285750">
              <a:buFont typeface="Wingbats" pitchFamily="0" charset="2"/>
              <a:buChar char=""/>
            </a:pPr>
            <a:r>
              <a:rPr lang="en-us" sz="2800" cap="none"/>
              <a:t>Robo advisor</a:t>
            </a:r>
            <a:endParaRPr lang="en-us" sz="2800" cap="none"/>
          </a:p>
          <a:p>
            <a:pPr marL="514350" indent="-285750">
              <a:buFont typeface="Wingbats" pitchFamily="0" charset="2"/>
              <a:buChar char=""/>
            </a:pPr>
            <a:endParaRPr lang="en-in" sz="28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9MAo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12000"/>
              </a:lnSpc>
              <a:defRPr sz="2800" cap="none"/>
            </a:pPr>
            <a:r>
              <a:rPr lang="en-in" b="1" cap="none">
                <a:solidFill>
                  <a:srgbClr val="C00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AI in Customer Management </a:t>
            </a:r>
            <a:endParaRPr lang="en-in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NgJAABvNQAAryU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 marL="685800" indent="-457200">
              <a:buFont typeface="Arial" pitchFamily="1" charset="0"/>
              <a:buChar char="•"/>
            </a:pPr>
            <a:endParaRPr lang="en-us" sz="3200" cap="none"/>
          </a:p>
          <a:p>
            <a:pPr lvl="8" marL="3886200" indent="0"/>
            <a:r>
              <a:rPr lang="en-us" sz="3200" cap="none"/>
              <a:t>             Starbucks</a:t>
            </a:r>
            <a:endParaRPr lang="en-us" sz="3200" cap="none"/>
          </a:p>
          <a:p>
            <a:pPr lvl="8" marL="3886200" indent="0">
              <a:defRPr lang="en-us" sz="3200" cap="none"/>
            </a:pPr>
          </a:p>
          <a:p>
            <a:pPr lvl="8" marL="3886200" indent="0">
              <a:defRPr lang="en-us" sz="3200" cap="none"/>
            </a:pPr>
          </a:p>
          <a:p>
            <a:pPr lvl="8" marL="4343400" indent="-457200">
              <a:buFont typeface="Arial" pitchFamily="1" charset="0"/>
              <a:buChar char="•"/>
            </a:pPr>
            <a:endParaRPr lang="en-us" sz="3200" cap="none"/>
          </a:p>
          <a:p>
            <a:pPr marL="685800" indent="-457200">
              <a:buFont typeface="Arial" pitchFamily="1" charset="0"/>
              <a:buChar char="•"/>
            </a:pPr>
            <a:endParaRPr lang="en-us" sz="3200" cap="none"/>
          </a:p>
          <a:p>
            <a:pPr marL="228600" indent="0"/>
            <a:r>
              <a:rPr lang="en-us" sz="3200" cap="none"/>
              <a:t>Sentiment analysis</a:t>
            </a:r>
            <a:endParaRPr lang="en-us" sz="3200" cap="none"/>
          </a:p>
          <a:p>
            <a:pPr marL="685800" indent="-457200">
              <a:buFont typeface="Arial" pitchFamily="1" charset="0"/>
              <a:buChar char="•"/>
            </a:pPr>
            <a:endParaRPr lang="en-in" sz="3200" cap="none"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CgDAABxCAAA4xoAAFsd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1372235"/>
            <a:ext cx="3857625" cy="339979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BcbAACZFAAAZjcAAOgm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403725" y="3348355"/>
            <a:ext cx="4601845" cy="297624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Ojp5u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12000"/>
              </a:lnSpc>
              <a:defRPr sz="2800" b="1" cap="none"/>
            </a:pPr>
            <a:r>
              <a:rPr lang="en-us" cap="none">
                <a:solidFill>
                  <a:srgbClr val="C00000"/>
                </a:solidFill>
                <a:latin typeface="Calibri" pitchFamily="2" charset="0"/>
                <a:ea typeface="Comic Sans MS" pitchFamily="1" charset="0"/>
                <a:cs typeface="Calibri" pitchFamily="2" charset="0"/>
              </a:rPr>
              <a:t>Demo/video clips</a:t>
            </a:r>
            <a:endParaRPr lang="en-in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pic>
        <p:nvPicPr>
          <p:cNvPr id="3" name="Picture 3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CJiYni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N8CAACLCQAA0BwAANw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551305"/>
            <a:ext cx="4217035" cy="362775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4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VIg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CceAAB4CQAAfjMAAPc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901565" y="1539240"/>
            <a:ext cx="3469005" cy="446976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5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H0l9A8zMzADAwP8Af39/AAAAAAAAAAAAAAAAAAAAAAAAAAAAIQAAABgAAAAUAAAA3QIAAIgiAAAsHAAA/yYAABAAAAAmAAAACAAAAP//////////"/>
              </a:ext>
            </a:extLst>
          </p:cNvSpPr>
          <p:nvPr/>
        </p:nvSpPr>
        <p:spPr>
          <a:xfrm>
            <a:off x="465455" y="5613400"/>
            <a:ext cx="4114165" cy="7258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in" cap="none"/>
              <a:t>https://www.youtube.com/results?search_query=sophiya+robot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aQMAALEBAAAVKAAA6wYAABAAAAAmAAAACAAAAAEAAAAAAAAA"/>
              </a:ext>
            </a:extLst>
          </p:cNvSpPr>
          <p:nvPr>
            <p:ph type="title"/>
          </p:nvPr>
        </p:nvSpPr>
        <p:spPr>
          <a:xfrm>
            <a:off x="554355" y="274955"/>
            <a:ext cx="5961380" cy="849630"/>
          </a:xfrm>
        </p:spPr>
        <p:txBody>
          <a:bodyPr/>
          <a:lstStyle/>
          <a:p>
            <a:pPr algn="ctr">
              <a:defRPr cap="none">
                <a:solidFill>
                  <a:srgbClr val="1C4587"/>
                </a:solidFill>
              </a:defRPr>
            </a:pPr>
            <a:r>
              <a:rPr lang="en-in" sz="32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Areas Contributing to AI</a:t>
            </a:r>
            <a:endParaRPr lang="en-in" sz="3200" b="1" cap="none"/>
          </a:p>
        </p:txBody>
      </p:sp>
      <p:pic>
        <p:nvPicPr>
          <p:cNvPr id="3" name="Picture 3"/>
          <p:cNvPicPr>
            <a:picLocks noChangeAspect="1"/>
            <a:extLst>
              <a:ext uri="smNativeData">
                <pr:smNativeData xmlns:pr="smNativeData" xmlns="smNativeData" val="SMDATA_17_FM5s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D7M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OEFAADYCQAATTAAAJ0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955675" y="1600200"/>
            <a:ext cx="6896100" cy="46767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5;g5af2e8c0f2_0_8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w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P//////////"/>
              </a:ext>
            </a:extLst>
          </p:cNvSpPr>
          <p:nvPr/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cap="none">
                <a:solidFill>
                  <a:srgbClr val="1C4587"/>
                </a:solidFill>
              </a:defRPr>
            </a:pPr>
            <a:r>
              <a:rPr lang="en-us" b="1" cap="none"/>
              <a:t>Philosophy</a:t>
            </a:r>
            <a:endParaRPr b="1" cap="none"/>
          </a:p>
        </p:txBody>
      </p:sp>
      <p:sp>
        <p:nvSpPr>
          <p:cNvPr id="3" name="Google Shape;156;g5af2e8c0f2_0_8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Y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agMAAMcJAAA7NgAATyEAABAAAAAmAAAACAAAAP//////////"/>
              </a:ext>
            </a:extLst>
          </p:cNvSpPr>
          <p:nvPr/>
        </p:nvSpPr>
        <p:spPr>
          <a:xfrm>
            <a:off x="554990" y="1589405"/>
            <a:ext cx="8260715" cy="3825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457200" marR="0" indent="0" algn="l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Font typeface="Wingdings" pitchFamily="2" charset="2"/>
              <a:buBlip>
                <a:blip r:embed="rId3"/>
              </a:buBlip>
            </a:pPr>
            <a:r>
              <a:rPr lang="en-in" sz="2400" cap="none"/>
              <a:t>Can formal rules be used to draw valid conclusions?</a:t>
            </a:r>
            <a:endParaRPr lang="en-in" sz="2400" cap="none"/>
          </a:p>
          <a:p>
            <a:pPr marL="457200" marR="0" indent="0" algn="l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Font typeface="Wingdings" pitchFamily="2" charset="2"/>
              <a:buBlip>
                <a:blip r:embed="rId3"/>
              </a:buBlip>
            </a:pPr>
            <a:r>
              <a:rPr lang="en-in" sz="2400" cap="none"/>
              <a:t>How does the mind arise from a brain?</a:t>
            </a:r>
            <a:endParaRPr lang="en-in" sz="2400" cap="none"/>
          </a:p>
          <a:p>
            <a:pPr marL="457200" marR="0" indent="0" algn="l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Font typeface="Wingdings" pitchFamily="2" charset="2"/>
              <a:buBlip>
                <a:blip r:embed="rId3"/>
              </a:buBlip>
            </a:pPr>
            <a:r>
              <a:rPr lang="en-in" sz="2400" cap="none"/>
              <a:t>Where does knowledge come from?</a:t>
            </a:r>
            <a:endParaRPr lang="en-in" sz="2400" cap="none"/>
          </a:p>
          <a:p>
            <a:pPr marL="457200" marR="0" indent="0" algn="l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Font typeface="Wingdings" pitchFamily="2" charset="2"/>
              <a:buBlip>
                <a:blip r:embed="rId3"/>
              </a:buBlip>
            </a:pPr>
            <a:r>
              <a:rPr lang="en-in" sz="2400" cap="none"/>
              <a:t>How does knowledge lead to action?</a:t>
            </a:r>
            <a:endParaRPr sz="2400" cap="none"/>
          </a:p>
        </p:txBody>
      </p:sp>
      <p:sp>
        <p:nvSpPr>
          <p:cNvPr id="4" name="Google Shape;157;g5af2e8c0f2_0_8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/n89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BAOAAALCgAABAAAAAmAAAACAAAAP//////////"/>
              </a:ext>
            </a:extLst>
          </p:cNvSpPr>
          <p:nvPr/>
        </p:nvSpPr>
        <p:spPr>
          <a:xfrm>
            <a:off x="8532495" y="6237605"/>
            <a:ext cx="61150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AEA8615-5BE7-BF70-A952-AD25C81C5FF8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39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4;g5af2e8c0f2_0_17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P//////////"/>
              </a:ext>
            </a:extLst>
          </p:cNvSpPr>
          <p:nvPr/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sz="3200" cap="none">
                <a:solidFill>
                  <a:srgbClr val="1C4587"/>
                </a:solidFill>
              </a:defRPr>
            </a:pPr>
            <a:r>
              <a:rPr lang="en-us" b="1" cap="none"/>
              <a:t>Philosophy</a:t>
            </a:r>
            <a:endParaRPr lang="en-us" b="1" cap="none"/>
          </a:p>
        </p:txBody>
      </p:sp>
      <p:sp>
        <p:nvSpPr>
          <p:cNvPr id="3" name="Google Shape;165;g5af2e8c0f2_0_17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VQEAAEQJAAAlNwAAhyUAABAAAAAmAAAACAAAAP//////////"/>
              </a:ext>
            </a:extLst>
          </p:cNvSpPr>
          <p:nvPr/>
        </p:nvSpPr>
        <p:spPr>
          <a:xfrm>
            <a:off x="216535" y="1506220"/>
            <a:ext cx="8747760" cy="4594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  <a:r>
              <a:rPr lang="en-in" cap="none">
                <a:solidFill>
                  <a:srgbClr val="980000"/>
                </a:solidFill>
              </a:rPr>
              <a:t>Aristotle (384–322 B . C .) </a:t>
            </a:r>
            <a:r>
              <a:rPr lang="en-in" cap="none"/>
              <a:t>:  first to formulate precise set of laws to govern rational part of brain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  <a:r>
              <a:rPr lang="en-in" cap="none">
                <a:solidFill>
                  <a:srgbClr val="980000"/>
                </a:solidFill>
              </a:rPr>
              <a:t>Ramon Lull (d. 1315)  </a:t>
            </a:r>
            <a:r>
              <a:rPr lang="en-in" cap="none"/>
              <a:t>: useful reasoning could actually be carried out by a mechanical artifact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  <a:r>
              <a:rPr lang="en-in" cap="none">
                <a:solidFill>
                  <a:srgbClr val="980000"/>
                </a:solidFill>
              </a:rPr>
              <a:t>Hobbes (1588–1679)</a:t>
            </a:r>
            <a:r>
              <a:rPr lang="en-in" cap="none"/>
              <a:t>  : “we add</a:t>
            </a:r>
            <a:r>
              <a:t> </a:t>
            </a:r>
            <a:r>
              <a:rPr lang="en-in" cap="none"/>
              <a:t>and subtract in our silent thoughts.” 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  <a:r>
              <a:rPr lang="en-in" cap="none">
                <a:solidFill>
                  <a:srgbClr val="980000"/>
                </a:solidFill>
              </a:rPr>
              <a:t>Leibniz (1646–1716) </a:t>
            </a:r>
            <a:r>
              <a:rPr lang="en-in" cap="none"/>
              <a:t>:  Built a mechanical device intended to carry out operations on concepts rather than numbers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  <a:endParaRPr cap="none"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sp>
        <p:nvSpPr>
          <p:cNvPr id="4" name="Google Shape;166;g5af2e8c0f2_0_17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NZIL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BAOAAALCgAABAAAAAmAAAACAAAAP//////////"/>
              </a:ext>
            </a:extLst>
          </p:cNvSpPr>
          <p:nvPr/>
        </p:nvSpPr>
        <p:spPr>
          <a:xfrm>
            <a:off x="8532495" y="6237605"/>
            <a:ext cx="61150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857ED10-5EF5-021B-BBEF-A84EA3A14DFD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40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0;g5af2e8c0f2_0_72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M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MAoAANsBAAAXIQAADgYAABAAAAAmAAAACAAAAP//////////"/>
              </a:ext>
            </a:extLst>
          </p:cNvSpPr>
          <p:nvPr/>
        </p:nvSpPr>
        <p:spPr>
          <a:xfrm>
            <a:off x="1656080" y="301625"/>
            <a:ext cx="3723005" cy="6826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sz="3200" b="1" cap="none">
                <a:solidFill>
                  <a:srgbClr val="1C4587"/>
                </a:solidFill>
              </a:defRPr>
            </a:pPr>
            <a:r>
              <a:rPr lang="en-in" cap="none"/>
              <a:t>Mathematics</a:t>
            </a:r>
            <a:endParaRPr lang="en-in" cap="none"/>
          </a:p>
        </p:txBody>
      </p:sp>
      <p:sp>
        <p:nvSpPr>
          <p:cNvPr id="3" name="Google Shape;201;g5af2e8c0f2_0_72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egUAABcKAAA/MwAAMBYAAAAAAAAmAAAACAAAAP//////////"/>
              </a:ext>
            </a:extLst>
          </p:cNvSpPr>
          <p:nvPr/>
        </p:nvSpPr>
        <p:spPr>
          <a:xfrm>
            <a:off x="890270" y="1640205"/>
            <a:ext cx="7440295" cy="19665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/>
              <a:t>What are the formal rules to draw valid conclusions?</a:t>
            </a:r>
            <a:endParaRPr lang="en-in" sz="2400" cap="none"/>
          </a:p>
          <a:p>
            <a:pPr marL="0" marR="0" indent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/>
              <a:t>What can be computed?</a:t>
            </a:r>
            <a:endParaRPr lang="en-in" sz="2400" cap="none"/>
          </a:p>
          <a:p>
            <a:pPr marL="0" marR="0" indent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/>
              <a:t>How do we reason with uncertain information?</a:t>
            </a:r>
            <a:endParaRPr sz="2400" cap="none"/>
          </a:p>
        </p:txBody>
      </p:sp>
      <p:sp>
        <p:nvSpPr>
          <p:cNvPr id="4" name="Google Shape;202;g5af2e8c0f2_0_72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BAOAAALCgAABAAAAAmAAAACAAAAP//////////"/>
              </a:ext>
            </a:extLst>
          </p:cNvSpPr>
          <p:nvPr/>
        </p:nvSpPr>
        <p:spPr>
          <a:xfrm>
            <a:off x="8532495" y="6237605"/>
            <a:ext cx="61150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D810867-29A0-D4FE-EE39-DFAB4677188A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41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8;g5af2e8c0f2_0_107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AAF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P//////////"/>
              </a:ext>
            </a:extLst>
          </p:cNvSpPr>
          <p:nvPr/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cap="none">
                <a:solidFill>
                  <a:srgbClr val="1C4587"/>
                </a:solidFill>
              </a:defRPr>
            </a:pPr>
            <a:r>
              <a:rPr lang="en-in" cap="none"/>
              <a:t>Economics</a:t>
            </a:r>
            <a:endParaRPr lang="en-in" cap="none"/>
          </a:p>
        </p:txBody>
      </p:sp>
      <p:sp>
        <p:nvSpPr>
          <p:cNvPr id="3" name="Google Shape;229;g5af2e8c0f2_0_107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yQEAACoKAADFNgAAASQAABAAAAAmAAAACAAAAP//////////"/>
              </a:ext>
            </a:extLst>
          </p:cNvSpPr>
          <p:nvPr/>
        </p:nvSpPr>
        <p:spPr>
          <a:xfrm>
            <a:off x="290195" y="1652270"/>
            <a:ext cx="8613140" cy="4200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45720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/>
              <a:t>How should we make decisions so as to maximize payoff?</a:t>
            </a:r>
            <a:endParaRPr sz="2400" cap="none"/>
          </a:p>
          <a:p>
            <a:pPr lvl="2"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>
                <a:solidFill>
                  <a:srgbClr val="980000"/>
                </a:solidFill>
              </a:rPr>
              <a:t> 	Utility / preferred outcomes</a:t>
            </a:r>
            <a:endParaRPr sz="2400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>
                <a:solidFill>
                  <a:srgbClr val="980000"/>
                </a:solidFill>
              </a:rPr>
              <a:t> 	Decision theory </a:t>
            </a:r>
            <a:r>
              <a:rPr lang="en-in" sz="2400" cap="none"/>
              <a:t> -Probability &amp; utility theory</a:t>
            </a:r>
            <a:endParaRPr sz="2400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>
                <a:solidFill>
                  <a:srgbClr val="980000"/>
                </a:solidFill>
              </a:rPr>
              <a:t> 	Game theory </a:t>
            </a:r>
            <a:endParaRPr lang="en-in" sz="2400" cap="none">
              <a:solidFill>
                <a:srgbClr val="980000"/>
              </a:solidFill>
            </a:endParaRPr>
          </a:p>
          <a:p>
            <a:pPr lvl="1"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/>
              <a:t> How to make decisions when payoffs are not immediate? </a:t>
            </a:r>
            <a:endParaRPr sz="2400" cap="none"/>
          </a:p>
          <a:p>
            <a:pPr lvl="1" marL="914400" indent="-355600" algn="l">
              <a:spcBef>
                <a:spcPts val="560"/>
              </a:spcBef>
              <a:spcAft>
                <a:spcPts val="0"/>
              </a:spcAft>
              <a:buClrTx/>
              <a:buSzPts val="2000"/>
              <a:buFont typeface="Comic Sans MS" pitchFamily="1" charset="0"/>
              <a:buChar char="○"/>
            </a:pPr>
            <a:r>
              <a:rPr lang="en-in" sz="2400" cap="none"/>
              <a:t>MDP</a:t>
            </a:r>
            <a:endParaRPr sz="2400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1800" cap="none">
              <a:solidFill>
                <a:srgbClr val="98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1800" cap="none">
              <a:latin typeface="Calibri" pitchFamily="2" charset="0"/>
              <a:ea typeface="Comic Sans MS" pitchFamily="1" charset="0"/>
              <a:cs typeface="Calibri" pitchFamily="2" charset="0"/>
            </a:endParaRPr>
          </a:p>
        </p:txBody>
      </p:sp>
      <p:sp>
        <p:nvSpPr>
          <p:cNvPr id="4" name="Google Shape;230;g5af2e8c0f2_0_107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BAOAAALCgAABAAAAAmAAAACAAAAP//////////"/>
              </a:ext>
            </a:extLst>
          </p:cNvSpPr>
          <p:nvPr/>
        </p:nvSpPr>
        <p:spPr>
          <a:xfrm>
            <a:off x="8532495" y="6237605"/>
            <a:ext cx="61150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695385A-14BB-C0CE-F52D-E29B766303B7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42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7;g5af2e8c0f2_0_120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mCC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P//////////"/>
              </a:ext>
            </a:extLst>
          </p:cNvSpPr>
          <p:nvPr/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cap="none">
                <a:solidFill>
                  <a:srgbClr val="1C4587"/>
                </a:solidFill>
              </a:defRPr>
            </a:pPr>
            <a:r>
              <a:rPr lang="en-us" cap="none"/>
              <a:t>Neuro science</a:t>
            </a:r>
            <a:endParaRPr lang="en-us" cap="none"/>
          </a:p>
        </p:txBody>
      </p:sp>
      <p:sp>
        <p:nvSpPr>
          <p:cNvPr id="3" name="Google Shape;238;g5af2e8c0f2_0_120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MG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mQIAAM0JAABWNwAA7CYAABAAAAAmAAAACAAAAP//////////"/>
              </a:ext>
            </a:extLst>
          </p:cNvSpPr>
          <p:nvPr/>
        </p:nvSpPr>
        <p:spPr>
          <a:xfrm>
            <a:off x="422275" y="1593215"/>
            <a:ext cx="8573135" cy="4733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/>
              <a:t>How do brains process information?</a:t>
            </a:r>
            <a:endParaRPr sz="2400" cap="none"/>
          </a:p>
          <a:p>
            <a:pPr marL="457200" marR="0" indent="-355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Pts val="2000"/>
              <a:buFont typeface="Comic Sans MS" pitchFamily="1" charset="0"/>
              <a:buChar char="●"/>
            </a:pPr>
            <a:r>
              <a:rPr lang="en-in" sz="2400" cap="none"/>
              <a:t>Study of the nervous system / brain</a:t>
            </a:r>
            <a:endParaRPr sz="2400" cap="none"/>
          </a:p>
          <a:p>
            <a:pPr marL="457200" marR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Comic Sans MS" pitchFamily="1" charset="0"/>
              <a:buChar char="●"/>
            </a:pPr>
            <a:r>
              <a:rPr lang="en-in" sz="2400" cap="none"/>
              <a:t>How does brain enables thoughts - Mystery Still</a:t>
            </a:r>
            <a:r>
              <a:rPr sz="2400" cap="none"/>
              <a:t> </a:t>
            </a:r>
            <a:r>
              <a:rPr lang="en-in" sz="2400" cap="none"/>
              <a:t>Aristotle , </a:t>
            </a:r>
            <a:endParaRPr lang="en-in" sz="2400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/>
              <a:t>“</a:t>
            </a:r>
            <a:r>
              <a:rPr lang="en-in" sz="2400" i="1" cap="none">
                <a:solidFill>
                  <a:srgbClr val="980000"/>
                </a:solidFill>
              </a:rPr>
              <a:t>Of all the animals, man has the largest brain in proportion to his size</a:t>
            </a:r>
            <a:r>
              <a:rPr lang="en-in" sz="2400" cap="none"/>
              <a:t>”</a:t>
            </a:r>
            <a:endParaRPr sz="2400" cap="none"/>
          </a:p>
          <a:p>
            <a:pPr marL="45720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2400" cap="none"/>
          </a:p>
        </p:txBody>
      </p:sp>
      <p:sp>
        <p:nvSpPr>
          <p:cNvPr id="4" name="Google Shape;239;g5af2e8c0f2_0_120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MB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BAOAAALCgAABAAAAAmAAAACAAAAP//////////"/>
              </a:ext>
            </a:extLst>
          </p:cNvSpPr>
          <p:nvPr/>
        </p:nvSpPr>
        <p:spPr>
          <a:xfrm>
            <a:off x="8532495" y="6237605"/>
            <a:ext cx="61150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95A6643-0DA4-0F90-EAE2-FBC528AC1CAE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43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  <p:pic>
        <p:nvPicPr>
          <p:cNvPr id="5" name="Google Shape;242;g5af2e8c0f2_0_120"/>
          <p:cNvPicPr>
            <a:extLst>
              <a:ext uri="smNativeData">
                <pr:smNativeData xmlns:pr="smNativeData" xmlns="smNativeData" val="SMDATA_17_FM5s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B8OAAAfFQAAhi4AALc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295525" y="3433445"/>
            <a:ext cx="5267325" cy="2697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cap="none">
                <a:solidFill>
                  <a:srgbClr val="1C4587"/>
                </a:solidFill>
              </a:defRPr>
            </a:pPr>
            <a:r>
              <a:rPr lang="en-us" b="1" cap="none"/>
              <a:t>Computer science </a:t>
            </a:r>
            <a:endParaRPr lang="en-in" b="1" cap="none"/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FM5s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PQLAABvNQAAbxkAABAAAAAmAAAACAAAAAEAAAAAAAAA"/>
              </a:ext>
            </a:extLst>
          </p:cNvSpPr>
          <p:nvPr>
            <p:ph type="subTitle" idx="1"/>
          </p:nvPr>
        </p:nvSpPr>
        <p:spPr>
          <a:xfrm>
            <a:off x="457200" y="1943100"/>
            <a:ext cx="8228965" cy="2191385"/>
          </a:xfrm>
        </p:spPr>
        <p:txBody>
          <a:bodyPr/>
          <a:lstStyle/>
          <a:p>
            <a:pPr>
              <a:defRPr sz="2800" cap="none"/>
            </a:pPr>
            <a:r>
              <a:rPr lang="en-us" cap="none"/>
              <a:t>AI is a subfield of computer science </a:t>
            </a:r>
            <a:endParaRPr lang="en-us" cap="none"/>
          </a:p>
          <a:p>
            <a:pPr marL="514350" indent="-285750">
              <a:buFont typeface="Arial" pitchFamily="1" charset="0"/>
              <a:buChar char="•"/>
              <a:defRPr sz="2800" cap="none"/>
            </a:pPr>
          </a:p>
          <a:p>
            <a:pPr marL="514350" indent="-285750">
              <a:buFont typeface="Wingdings" pitchFamily="2" charset="2"/>
              <a:buBlip>
                <a:blip r:embed="rId3"/>
              </a:buBlip>
              <a:defRPr sz="2800" cap="none"/>
            </a:pPr>
            <a:r>
              <a:rPr lang="en-us" cap="none"/>
              <a:t>Programming language </a:t>
            </a:r>
            <a:endParaRPr lang="en-us" cap="none"/>
          </a:p>
          <a:p>
            <a:pPr marL="514350" indent="-285750">
              <a:buFont typeface="Wingdings" pitchFamily="2" charset="2"/>
              <a:buBlip>
                <a:blip r:embed="rId3"/>
              </a:buBlip>
              <a:defRPr sz="2800" cap="none"/>
            </a:pPr>
            <a:r>
              <a:rPr lang="en-us" cap="none"/>
              <a:t>Algorithms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4;g5af2e8c0f2_0_189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P//////////"/>
              </a:ext>
            </a:extLst>
          </p:cNvSpPr>
          <p:nvPr/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cap="none">
                <a:solidFill>
                  <a:srgbClr val="1C4587"/>
                </a:solidFill>
              </a:defRPr>
            </a:pPr>
            <a:r>
              <a:rPr lang="en-in" cap="none"/>
              <a:t>Linguistics</a:t>
            </a:r>
            <a:endParaRPr lang="en-in" cap="none"/>
          </a:p>
        </p:txBody>
      </p:sp>
      <p:sp>
        <p:nvSpPr>
          <p:cNvPr id="3" name="Google Shape;285;g5af2e8c0f2_0_189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A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QIAANgJAAAONwAAyyQAABAAAAAmAAAACAAAAP//////////"/>
              </a:ext>
            </a:extLst>
          </p:cNvSpPr>
          <p:nvPr/>
        </p:nvSpPr>
        <p:spPr>
          <a:xfrm>
            <a:off x="328295" y="1600200"/>
            <a:ext cx="8621395" cy="43808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000" cap="none"/>
            </a:pPr>
            <a:r>
              <a:rPr lang="en-in" cap="none"/>
              <a:t>How does language relate to thought?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000" cap="none"/>
            </a:pPr>
            <a:r>
              <a:rPr lang="en-in" cap="none">
                <a:solidFill>
                  <a:srgbClr val="980000"/>
                </a:solidFill>
              </a:rPr>
              <a:t>Verbal Behavior (1957, B. F. Skinner)</a:t>
            </a:r>
            <a:r>
              <a:rPr lang="en-in" cap="none"/>
              <a:t> :  </a:t>
            </a:r>
            <a:endParaRPr lang="en-in" cap="none"/>
          </a:p>
          <a:p>
            <a:pPr marL="457200" marR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Pts val="1800"/>
              <a:buFont typeface="Comic Sans MS" pitchFamily="1" charset="0"/>
              <a:buChar char="●"/>
              <a:defRPr sz="2000" cap="none"/>
            </a:pPr>
            <a:r>
              <a:rPr lang="en-in" cap="none"/>
              <a:t>Behaviorist approach to language learning</a:t>
            </a:r>
            <a:endParaRPr lang="en-in" cap="none"/>
          </a:p>
          <a:p>
            <a:pPr marL="4572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Comic Sans MS" pitchFamily="1" charset="0"/>
              <a:buChar char="●"/>
              <a:defRPr sz="2000" cap="none"/>
            </a:pPr>
            <a:r>
              <a:rPr lang="en-in" cap="none"/>
              <a:t>Reviewed by Noam Chomsky</a:t>
            </a:r>
            <a:endParaRPr lang="en-in" cap="none"/>
          </a:p>
          <a:p>
            <a:pPr lvl="1" marL="9144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Wingdings" pitchFamily="2" charset="2"/>
              <a:buBlip>
                <a:blip r:embed="rId3"/>
              </a:buBlip>
              <a:defRPr sz="2000" cap="none"/>
            </a:pPr>
            <a:r>
              <a:rPr lang="en-in" cap="none"/>
              <a:t>criticised lack of notion of creativity in language 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000" cap="none"/>
            </a:pPr>
            <a:r>
              <a:rPr lang="en-in" cap="none">
                <a:solidFill>
                  <a:srgbClr val="980000"/>
                </a:solidFill>
              </a:rPr>
              <a:t>Syntactic Structures ( 1957, Noam Chomsky)</a:t>
            </a:r>
            <a:endParaRPr cap="none">
              <a:solidFill>
                <a:srgbClr val="980000"/>
              </a:solidFill>
            </a:endParaRPr>
          </a:p>
          <a:p>
            <a:pPr marL="457200" marR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Pts val="1800"/>
              <a:buFont typeface="Comic Sans MS" pitchFamily="1" charset="0"/>
              <a:buChar char="●"/>
              <a:defRPr sz="2000" cap="none"/>
            </a:pPr>
            <a:r>
              <a:rPr lang="en-in" cap="none"/>
              <a:t>Computational linguistics /  natural language processing as a part of AI</a:t>
            </a:r>
            <a:endParaRPr lang="en-in" cap="none"/>
          </a:p>
          <a:p>
            <a:pPr lvl="1" marL="9144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Wingdings" pitchFamily="2" charset="2"/>
              <a:buBlip>
                <a:blip r:embed="rId3"/>
              </a:buBlip>
              <a:defRPr sz="2000" cap="none"/>
            </a:pPr>
            <a:r>
              <a:rPr lang="en-in" cap="none"/>
              <a:t>Understanding a language is realized as more complex than ever</a:t>
            </a:r>
            <a:endParaRPr lang="en-in" cap="none"/>
          </a:p>
          <a:p>
            <a:pPr lvl="1" marL="9144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Wingdings" pitchFamily="2" charset="2"/>
              <a:buBlip>
                <a:blip r:embed="rId3"/>
              </a:buBlip>
              <a:defRPr sz="2000" cap="none"/>
            </a:pPr>
            <a:r>
              <a:rPr lang="en-in" cap="none"/>
              <a:t>Context, subject matter knowledge complicated it further</a:t>
            </a:r>
            <a:endParaRPr lang="en-in" cap="none"/>
          </a:p>
          <a:p>
            <a:pPr lvl="1" marL="9144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Wingdings" pitchFamily="2" charset="2"/>
              <a:buBlip>
                <a:blip r:embed="rId3"/>
              </a:buBlip>
              <a:defRPr sz="2000" cap="none"/>
            </a:pPr>
            <a:r>
              <a:rPr lang="en-in" cap="none"/>
              <a:t>Representing language consumed volume of work done in NLP, in early times</a:t>
            </a:r>
            <a:endParaRPr lang="en-in" cap="none"/>
          </a:p>
        </p:txBody>
      </p:sp>
      <p:sp>
        <p:nvSpPr>
          <p:cNvPr id="4" name="Google Shape;286;g5af2e8c0f2_0_189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BAOAAALCgAABAAAAAmAAAACAAAAP//////////"/>
              </a:ext>
            </a:extLst>
          </p:cNvSpPr>
          <p:nvPr/>
        </p:nvSpPr>
        <p:spPr>
          <a:xfrm>
            <a:off x="8532495" y="6237605"/>
            <a:ext cx="61150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2B1C3D5-9BBF-E435-F109-6D608D470738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45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7;g5af2e8c0f2_0_136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M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P//////////"/>
              </a:ext>
            </a:extLst>
          </p:cNvSpPr>
          <p:nvPr/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cap="none">
                <a:solidFill>
                  <a:srgbClr val="1C4587"/>
                </a:solidFill>
              </a:defRPr>
            </a:pPr>
            <a:r>
              <a:rPr lang="en-us" cap="none"/>
              <a:t>Phychology</a:t>
            </a:r>
            <a:endParaRPr lang="en-us" cap="none"/>
          </a:p>
        </p:txBody>
      </p:sp>
      <p:sp>
        <p:nvSpPr>
          <p:cNvPr id="3" name="Google Shape;258;g5af2e8c0f2_0_136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WwIAAGEJAABDNwAAqyQAABAAAAAmAAAACAAAAP//////////"/>
              </a:ext>
            </a:extLst>
          </p:cNvSpPr>
          <p:nvPr/>
        </p:nvSpPr>
        <p:spPr>
          <a:xfrm>
            <a:off x="382905" y="1524635"/>
            <a:ext cx="8600440" cy="4436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  <a:r>
              <a:rPr lang="en-in" cap="none">
                <a:solidFill>
                  <a:srgbClr val="980000"/>
                </a:solidFill>
              </a:rPr>
              <a:t>How do humans and animals think and act?</a:t>
            </a:r>
            <a:endParaRPr cap="none">
              <a:solidFill>
                <a:srgbClr val="980000"/>
              </a:solidFill>
            </a:endParaRPr>
          </a:p>
          <a:p>
            <a:pPr marL="45720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</a:p>
          <a:p>
            <a:pPr marL="457200" marR="0" indent="-355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in" i="1" cap="none">
                <a:solidFill>
                  <a:srgbClr val="9900FF"/>
                </a:solidFill>
              </a:rPr>
              <a:t>Cognitive Psychology </a:t>
            </a:r>
            <a:r>
              <a:rPr lang="en-in" cap="none"/>
              <a:t>-  Brain as an information-processing device</a:t>
            </a:r>
            <a:endParaRPr lang="en-in" cap="none"/>
          </a:p>
          <a:p>
            <a:pPr marL="457200" marR="0" indent="-355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Pts val="2000"/>
              <a:buFont typeface="Wingdings" pitchFamily="2" charset="2"/>
              <a:buBlip>
                <a:blip r:embed="rId3"/>
              </a:buBlip>
              <a:defRPr sz="2400" cap="none"/>
            </a:pPr>
          </a:p>
          <a:p>
            <a:pPr marL="457200" marR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in" cap="none"/>
              <a:t>Two months after the dartmouth workshop, a workshop in MIT gave birth to  </a:t>
            </a:r>
            <a:r>
              <a:rPr lang="en-in" i="1" cap="none">
                <a:solidFill>
                  <a:srgbClr val="9900FF"/>
                </a:solidFill>
              </a:rPr>
              <a:t>Cognitive Science</a:t>
            </a:r>
            <a:endParaRPr i="1" cap="none">
              <a:solidFill>
                <a:srgbClr val="9900FF"/>
              </a:solidFill>
            </a:endParaRPr>
          </a:p>
          <a:p>
            <a:pPr lvl="1" marL="914400" marR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itchFamily="2" charset="2"/>
              <a:buBlip>
                <a:blip r:embed="rId4"/>
              </a:buBlip>
              <a:defRPr sz="2400" cap="none"/>
            </a:pPr>
            <a:r>
              <a:rPr lang="en-in" cap="none">
                <a:solidFill>
                  <a:srgbClr val="073763"/>
                </a:solidFill>
              </a:rPr>
              <a:t>George Miller, Noam Chomsky, Allen Newell and Herbert Simon </a:t>
            </a:r>
            <a:r>
              <a:rPr lang="en-in" cap="none"/>
              <a:t>- roles of computer models to address the psychology of memory, language, and logical thinking, issues..</a:t>
            </a:r>
            <a:endParaRPr lang="en-in" cap="none"/>
          </a:p>
          <a:p>
            <a:pPr lvl="1" marL="914400" marR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itchFamily="2" charset="2"/>
              <a:buBlip>
                <a:blip r:embed="rId4"/>
              </a:buBlip>
              <a:defRPr sz="2400" cap="none"/>
            </a:pPr>
          </a:p>
        </p:txBody>
      </p:sp>
      <p:sp>
        <p:nvSpPr>
          <p:cNvPr id="4" name="Google Shape;259;g5af2e8c0f2_0_136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BAOAAALCgAABAAAAAmAAAACAAAAP//////////"/>
              </a:ext>
            </a:extLst>
          </p:cNvSpPr>
          <p:nvPr/>
        </p:nvSpPr>
        <p:spPr>
          <a:xfrm>
            <a:off x="8532495" y="6237605"/>
            <a:ext cx="61150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B063C0F-41F6-53CA-B8BE-B79F72F04EE2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46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5;g5af2e8c0f2_0_180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2AIAAIkBAADFJgAAyAUAABAAAAAmAAAACAAAAP//////////"/>
              </a:ext>
            </a:extLst>
          </p:cNvSpPr>
          <p:nvPr/>
        </p:nvSpPr>
        <p:spPr>
          <a:xfrm>
            <a:off x="462280" y="249555"/>
            <a:ext cx="5840095" cy="6902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sz="3200" b="1" cap="none">
                <a:solidFill>
                  <a:srgbClr val="1C4587"/>
                </a:solidFill>
              </a:defRPr>
            </a:pPr>
            <a:r>
              <a:rPr lang="en-in" cap="none"/>
              <a:t>Control theory, Cybernetics</a:t>
            </a:r>
            <a:endParaRPr lang="en-in" cap="none"/>
          </a:p>
        </p:txBody>
      </p:sp>
      <p:sp>
        <p:nvSpPr>
          <p:cNvPr id="3" name="Google Shape;276;g5af2e8c0f2_0_180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uAIAAHwJAADFNQAAeyAAABAAAAAmAAAACAAAAP//////////"/>
              </a:ext>
            </a:extLst>
          </p:cNvSpPr>
          <p:nvPr/>
        </p:nvSpPr>
        <p:spPr>
          <a:xfrm>
            <a:off x="441960" y="1541780"/>
            <a:ext cx="8298815" cy="37382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  <a:defRPr sz="2400" cap="none"/>
            </a:pPr>
            <a:r>
              <a:rPr lang="en-in" cap="none"/>
              <a:t>Control theory</a:t>
            </a:r>
            <a:endParaRPr lang="en-in" cap="none"/>
          </a:p>
          <a:p>
            <a:pPr marL="457200" marR="0" indent="-355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Pts val="20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in" cap="none"/>
              <a:t>Deals with the behaviour of dynamic systems</a:t>
            </a:r>
            <a:endParaRPr lang="en-in" cap="none"/>
          </a:p>
          <a:p>
            <a:pPr lvl="1" marL="9144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Wingdings" pitchFamily="2" charset="2"/>
              <a:buBlip>
                <a:blip r:embed="rId4"/>
              </a:buBlip>
              <a:defRPr sz="2400" cap="none"/>
            </a:pPr>
            <a:r>
              <a:rPr lang="en-in" cap="none"/>
              <a:t>behaviour must ensure the error between the current state and goal state is minimized</a:t>
            </a:r>
            <a:endParaRPr lang="en-in" cap="none"/>
          </a:p>
          <a:p>
            <a:pPr marL="457200" marR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 pitchFamily="1" charset="0"/>
              <a:buChar char="●"/>
              <a:defRPr sz="2400" cap="none"/>
            </a:pPr>
            <a:endParaRPr lang="en-in" cap="none">
              <a:solidFill>
                <a:srgbClr val="FF00FF"/>
              </a:solidFill>
            </a:endParaRPr>
          </a:p>
          <a:p>
            <a:pPr marL="457200" marR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in" cap="none">
                <a:solidFill>
                  <a:srgbClr val="FF00FF"/>
                </a:solidFill>
              </a:rPr>
              <a:t>Cybernetics</a:t>
            </a:r>
            <a:r>
              <a:rPr lang="en-in" cap="none"/>
              <a:t>  - Book by Wiener</a:t>
            </a:r>
            <a:endParaRPr lang="en-in" cap="none"/>
          </a:p>
          <a:p>
            <a:pPr lvl="1" marL="9144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Wingdings" pitchFamily="2" charset="2"/>
              <a:buBlip>
                <a:blip r:embed="rId4"/>
              </a:buBlip>
              <a:defRPr sz="2400" cap="none"/>
            </a:pPr>
            <a:r>
              <a:rPr lang="en-in" cap="none"/>
              <a:t>(</a:t>
            </a:r>
            <a:r>
              <a:rPr lang="en-in" cap="none">
                <a:solidFill>
                  <a:srgbClr val="980000"/>
                </a:solidFill>
              </a:rPr>
              <a:t>Norbert Wiener, 1948</a:t>
            </a:r>
            <a:r>
              <a:rPr lang="en-in" cap="none"/>
              <a:t>) : Scientific study of control and communication in the animal and the machine</a:t>
            </a:r>
            <a:endParaRPr lang="en-in" cap="none"/>
          </a:p>
        </p:txBody>
      </p:sp>
      <p:sp>
        <p:nvSpPr>
          <p:cNvPr id="4" name="Google Shape;277;g5af2e8c0f2_0_180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BAOAAALCgAABAAAAAmAAAACAAAAP//////////"/>
              </a:ext>
            </a:extLst>
          </p:cNvSpPr>
          <p:nvPr/>
        </p:nvSpPr>
        <p:spPr>
          <a:xfrm>
            <a:off x="8532495" y="6237605"/>
            <a:ext cx="61150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957CDA8-E6A4-023B-EAEF-106E83A11C45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47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3;p5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AAUAADEJAABnMAAAxyIAABAAAAAmAAAACAAAAP//////////"/>
              </a:ext>
            </a:extLst>
          </p:cNvSpPr>
          <p:nvPr/>
        </p:nvSpPr>
        <p:spPr>
          <a:xfrm>
            <a:off x="812800" y="1494155"/>
            <a:ext cx="7055485" cy="4159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lvl="2" marL="0" indent="0">
              <a:lnSpc>
                <a:spcPct val="150000"/>
              </a:lnSpc>
              <a:buSzPts val="18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us" cap="none"/>
              <a:t> 	Determining the right data set. </a:t>
            </a:r>
            <a:endParaRPr lang="en-us" cap="none"/>
          </a:p>
          <a:p>
            <a:pPr lvl="1" marL="0" indent="0">
              <a:lnSpc>
                <a:spcPct val="150000"/>
              </a:lnSpc>
              <a:buSzPts val="18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us" cap="none"/>
              <a:t> 	The bias problem</a:t>
            </a:r>
            <a:endParaRPr lang="en-us" cap="none"/>
          </a:p>
          <a:p>
            <a:pPr lvl="2" marL="0" indent="0">
              <a:lnSpc>
                <a:spcPct val="150000"/>
              </a:lnSpc>
              <a:buSzPts val="18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us" cap="none"/>
              <a:t> 	Infrastructure. </a:t>
            </a:r>
            <a:endParaRPr lang="en-us" cap="none"/>
          </a:p>
          <a:p>
            <a:pPr lvl="1" marL="0" indent="0">
              <a:lnSpc>
                <a:spcPct val="150000"/>
              </a:lnSpc>
              <a:buSzPts val="18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us" cap="none"/>
              <a:t> 	AI integration. </a:t>
            </a:r>
            <a:endParaRPr lang="en-us" cap="none"/>
          </a:p>
          <a:p>
            <a:pPr lvl="1" marL="0" indent="0">
              <a:lnSpc>
                <a:spcPct val="150000"/>
              </a:lnSpc>
              <a:buSzPts val="18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us" cap="none"/>
              <a:t> 	Computation. </a:t>
            </a:r>
            <a:endParaRPr lang="en-us" cap="none"/>
          </a:p>
          <a:p>
            <a:pPr lvl="1" marL="0" indent="0">
              <a:lnSpc>
                <a:spcPct val="150000"/>
              </a:lnSpc>
              <a:buSzPts val="18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us" cap="none"/>
              <a:t> 	Niche skillset. </a:t>
            </a:r>
            <a:endParaRPr lang="en-us" cap="none"/>
          </a:p>
          <a:p>
            <a:pPr lvl="1" marL="0" indent="0">
              <a:lnSpc>
                <a:spcPct val="150000"/>
              </a:lnSpc>
              <a:buSzPts val="1800"/>
              <a:buFont typeface="Wingdings" pitchFamily="2" charset="2"/>
              <a:buBlip>
                <a:blip r:embed="rId3"/>
              </a:buBlip>
              <a:defRPr sz="2400" cap="none"/>
            </a:pPr>
            <a:r>
              <a:rPr lang="en-us" cap="none"/>
              <a:t> 	Expensive and rare</a:t>
            </a:r>
            <a:endParaRPr lang="en-us" cap="none"/>
          </a:p>
        </p:txBody>
      </p:sp>
      <p:sp>
        <p:nvSpPr>
          <p:cNvPr id="3" name="Google Shape;214;p5"/>
          <p:cNvSpPr>
            <a:extLst>
              <a:ext uri="smNativeData">
                <pr:smNativeData xmlns:pr="smNativeData" xmlns="smNativeData" val="SMDATA_15_FM5s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TwQAAI8CAABQKgAA1AYAABAAAAAmAAAACAAAAP//////////"/>
              </a:ext>
            </a:extLst>
          </p:cNvSpPr>
          <p:nvPr/>
        </p:nvSpPr>
        <p:spPr>
          <a:xfrm>
            <a:off x="700405" y="415925"/>
            <a:ext cx="6177915" cy="694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pPr>
            <a:r>
              <a:rPr lang="en-in" b="1" cap="none">
                <a:solidFill>
                  <a:srgbClr val="C00000"/>
                </a:solidFill>
              </a:rPr>
              <a:t>Challenges in AI</a:t>
            </a:r>
            <a:endParaRPr lang="en-in" b="1" cap="none">
              <a:solidFill>
                <a:srgbClr val="C00000"/>
              </a:solidFill>
            </a:endParaRPr>
          </a:p>
        </p:txBody>
      </p:sp>
      <p:sp>
        <p:nvSpPr>
          <p:cNvPr id="4" name="Rectangle 1"/>
          <p:cNvSpPr>
            <a:extLst>
              <a:ext uri="smNativeData">
                <pr:smNativeData xmlns:pr="smNativeData" xmlns="smNativeData" val="SMDATA_15_FM5saR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NZIL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H0l9A8zMzADAwP8Af39/AAAAAAAAAAAAAAAAAAAAAAAAAAAAIQAAABgAAAAUAAAAVxIAABMGAAB5EwAAWAgAABAgAAAmAAAACAAAAP//////////"/>
              </a:ext>
            </a:extLst>
          </p:cNvSpPr>
          <p:nvPr/>
        </p:nvSpPr>
        <p:spPr>
          <a:xfrm>
            <a:off x="2981325" y="987425"/>
            <a:ext cx="184150" cy="3689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/>
            <a:endParaRPr lang="en-in" sz="18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7;p10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NZIL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8QMAADQZAACRNgAAEiIAABAAAAAmAAAACAAAAP//////////"/>
              </a:ext>
            </a:extLst>
          </p:cNvSpPr>
          <p:nvPr/>
        </p:nvSpPr>
        <p:spPr>
          <a:xfrm>
            <a:off x="640715" y="4097020"/>
            <a:ext cx="8229600" cy="1441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cap="none">
              <a:latin typeface="Calibri" pitchFamily="2" charset="0"/>
              <a:ea typeface="Arial" pitchFamily="1" charset="0"/>
              <a:cs typeface="Calibri" pitchFamily="2" charset="0"/>
            </a:endParaRPr>
          </a:p>
          <a:p>
            <a:pPr marL="0" marR="0" indent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in" sz="2400" cap="none">
                <a:latin typeface="Calibri" pitchFamily="2" charset="0"/>
                <a:ea typeface="Calibri" pitchFamily="2" charset="0"/>
                <a:cs typeface="Calibri" pitchFamily="2" charset="0"/>
              </a:rPr>
              <a:t>Thank You for all your Attention</a:t>
            </a:r>
            <a:endParaRPr sz="2400" cap="none">
              <a:latin typeface="Calibri" pitchFamily="2" charset="0"/>
              <a:ea typeface="Arial" pitchFamily="1" charset="0"/>
              <a:cs typeface="Calibri" pitchFamily="2" charset="0"/>
            </a:endParaRPr>
          </a:p>
        </p:txBody>
      </p:sp>
      <p:sp>
        <p:nvSpPr>
          <p:cNvPr id="3" name="Google Shape;358;p10"/>
          <p:cNvSpPr>
            <a:extLst>
              <a:ext uri="smNativeData">
                <pr:smNativeData xmlns:pr="smNativeData" xmlns="smNativeData" val="SMDATA_15_FM5s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A/OAAALCgAABAAAAAmAAAACAAAAP//////////"/>
              </a:ext>
            </a:extLst>
          </p:cNvSpPr>
          <p:nvPr/>
        </p:nvSpPr>
        <p:spPr>
          <a:xfrm>
            <a:off x="8532495" y="6237605"/>
            <a:ext cx="61087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CE9AD10-5EA1-BC5B-EF51-A80EE31F19FD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49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  <p:sp>
        <p:nvSpPr>
          <p:cNvPr id="4" name="Google Shape;359;p10"/>
          <p:cNvSpPr>
            <a:extLst>
              <a:ext uri="smNativeData">
                <pr:smNativeData xmlns:pr="smNativeData" xmlns="smNativeData" val="SMDATA_15_FM5saRMAAAAlAAAAZAAAAA0AAAAAkAAAAJAAAACQAAAAk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eQMAABoKAABCNwAA3RUAABAAAAAmAAAACAAAAP//////////"/>
              </a:ext>
            </a:extLst>
          </p:cNvSpPr>
          <p:nvPr/>
        </p:nvSpPr>
        <p:spPr>
          <a:xfrm>
            <a:off x="564515" y="1642110"/>
            <a:ext cx="8418195" cy="19119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pPr>
            <a:r>
              <a:rPr lang="en-in" b="1" cap="none"/>
              <a:t>Required Reading: </a:t>
            </a:r>
            <a:r>
              <a:rPr lang="en-in" cap="none"/>
              <a:t> AIMA - Chapter  # 1.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pPr>
            <a:r>
              <a:rPr lang="en-in" cap="none">
                <a:solidFill>
                  <a:srgbClr val="FF0000"/>
                </a:solidFill>
              </a:rPr>
              <a:t>Note : Some of the slides are adopted from AIMA TB materials </a:t>
            </a:r>
            <a:endParaRPr cap="none">
              <a:solidFill>
                <a:srgbClr val="FF0000"/>
              </a:solidFill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38222816C124A8A594EC8EF066948" ma:contentTypeVersion="0" ma:contentTypeDescription="Create a new document." ma:contentTypeScope="" ma:versionID="73fb086f2c7b85902d40f0a936c4e34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737F31-C780-40E3-81BA-2821D8C41AD0}"/>
</file>

<file path=customXml/itemProps2.xml><?xml version="1.0" encoding="utf-8"?>
<ds:datastoreItem xmlns:ds="http://schemas.openxmlformats.org/officeDocument/2006/customXml" ds:itemID="{120F75EC-73F4-4F80-AEB7-9D12966C3095}"/>
</file>

<file path=customXml/itemProps3.xml><?xml version="1.0" encoding="utf-8"?>
<ds:datastoreItem xmlns:ds="http://schemas.openxmlformats.org/officeDocument/2006/customXml" ds:itemID="{A4F538D0-48EA-44AD-B336-2E760621CFB0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bits-14-14</dc:creator>
  <cp:keywords/>
  <dc:description/>
  <cp:lastModifiedBy>brahmanaidu</cp:lastModifiedBy>
  <cp:revision>0</cp:revision>
  <dcterms:created xsi:type="dcterms:W3CDTF">2024-09-28T17:35:17Z</dcterms:created>
  <dcterms:modified xsi:type="dcterms:W3CDTF">2026-01-18T12:12:04Z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0x010100E6A38222816C124A8A594EC8EF066948</vt:lpwstr>
  </property>
</Properties>
</file>